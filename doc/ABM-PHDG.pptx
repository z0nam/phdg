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3" r:id="rId1"/>
  </p:sldMasterIdLst>
  <p:notesMasterIdLst>
    <p:notesMasterId r:id="rId39"/>
  </p:notesMasterIdLst>
  <p:sldIdLst>
    <p:sldId id="311" r:id="rId2"/>
    <p:sldId id="312" r:id="rId3"/>
    <p:sldId id="313" r:id="rId4"/>
    <p:sldId id="314" r:id="rId5"/>
    <p:sldId id="315" r:id="rId6"/>
    <p:sldId id="316" r:id="rId7"/>
    <p:sldId id="318" r:id="rId8"/>
    <p:sldId id="442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  <p:sldId id="340" r:id="rId31"/>
    <p:sldId id="341" r:id="rId32"/>
    <p:sldId id="342" r:id="rId33"/>
    <p:sldId id="343" r:id="rId34"/>
    <p:sldId id="344" r:id="rId35"/>
    <p:sldId id="345" r:id="rId36"/>
    <p:sldId id="346" r:id="rId37"/>
    <p:sldId id="347" r:id="rId38"/>
  </p:sldIdLst>
  <p:sldSz cx="13004800" cy="97536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조 남운" initials="조남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ABBEEE"/>
              </a:solidFill>
              <a:prstDash val="solid"/>
              <a:miter lim="400000"/>
            </a:ln>
          </a:left>
          <a:right>
            <a:ln w="12700" cap="flat">
              <a:solidFill>
                <a:srgbClr val="ABBEEE"/>
              </a:solidFill>
              <a:prstDash val="solid"/>
              <a:miter lim="400000"/>
            </a:ln>
          </a:right>
          <a:top>
            <a:ln w="12700" cap="flat">
              <a:solidFill>
                <a:srgbClr val="ABBEEE"/>
              </a:solidFill>
              <a:prstDash val="solid"/>
              <a:miter lim="400000"/>
            </a:ln>
          </a:top>
          <a:bottom>
            <a:ln w="12700" cap="flat">
              <a:solidFill>
                <a:srgbClr val="ABBEEE"/>
              </a:solidFill>
              <a:prstDash val="solid"/>
              <a:miter lim="400000"/>
            </a:ln>
          </a:bottom>
          <a:insideH>
            <a:ln w="12700" cap="flat">
              <a:solidFill>
                <a:srgbClr val="ABBEEE"/>
              </a:solidFill>
              <a:prstDash val="solid"/>
              <a:miter lim="400000"/>
            </a:ln>
          </a:insideH>
          <a:insideV>
            <a:ln w="12700" cap="flat">
              <a:solidFill>
                <a:srgbClr val="ABBEE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ABBEEE"/>
              </a:solidFill>
              <a:prstDash val="solid"/>
              <a:miter lim="400000"/>
            </a:ln>
          </a:left>
          <a:right>
            <a:ln w="12700" cap="flat">
              <a:solidFill>
                <a:srgbClr val="ABBEEE"/>
              </a:solidFill>
              <a:prstDash val="solid"/>
              <a:miter lim="400000"/>
            </a:ln>
          </a:right>
          <a:top>
            <a:ln w="12700" cap="flat">
              <a:solidFill>
                <a:srgbClr val="ABBEEE"/>
              </a:solidFill>
              <a:prstDash val="solid"/>
              <a:miter lim="400000"/>
            </a:ln>
          </a:top>
          <a:bottom>
            <a:ln w="12700" cap="flat">
              <a:solidFill>
                <a:srgbClr val="ABBEEE"/>
              </a:solidFill>
              <a:prstDash val="solid"/>
              <a:miter lim="400000"/>
            </a:ln>
          </a:bottom>
          <a:insideH>
            <a:ln w="12700" cap="flat">
              <a:solidFill>
                <a:srgbClr val="ABBEEE"/>
              </a:solidFill>
              <a:prstDash val="solid"/>
              <a:miter lim="400000"/>
            </a:ln>
          </a:insideH>
          <a:insideV>
            <a:ln w="12700" cap="flat">
              <a:solidFill>
                <a:srgbClr val="ABBEEE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ABBEEE"/>
              </a:solidFill>
              <a:prstDash val="solid"/>
              <a:miter lim="400000"/>
            </a:ln>
          </a:left>
          <a:right>
            <a:ln w="12700" cap="flat">
              <a:solidFill>
                <a:srgbClr val="ABBEEE"/>
              </a:solidFill>
              <a:prstDash val="solid"/>
              <a:miter lim="400000"/>
            </a:ln>
          </a:right>
          <a:top>
            <a:ln w="12700" cap="flat">
              <a:solidFill>
                <a:srgbClr val="ABBEEE"/>
              </a:solidFill>
              <a:prstDash val="solid"/>
              <a:miter lim="400000"/>
            </a:ln>
          </a:top>
          <a:bottom>
            <a:ln w="12700" cap="flat">
              <a:solidFill>
                <a:srgbClr val="ABBEEE"/>
              </a:solidFill>
              <a:prstDash val="solid"/>
              <a:miter lim="400000"/>
            </a:ln>
          </a:bottom>
          <a:insideH>
            <a:ln w="12700" cap="flat">
              <a:solidFill>
                <a:srgbClr val="ABBEEE"/>
              </a:solidFill>
              <a:prstDash val="solid"/>
              <a:miter lim="400000"/>
            </a:ln>
          </a:insideH>
          <a:insideV>
            <a:ln w="12700" cap="flat">
              <a:solidFill>
                <a:srgbClr val="ABBEE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ABBEEE"/>
              </a:solidFill>
              <a:prstDash val="solid"/>
              <a:miter lim="400000"/>
            </a:ln>
          </a:left>
          <a:right>
            <a:ln w="12700" cap="flat">
              <a:solidFill>
                <a:srgbClr val="ABBEEE"/>
              </a:solidFill>
              <a:prstDash val="solid"/>
              <a:miter lim="400000"/>
            </a:ln>
          </a:right>
          <a:top>
            <a:ln w="12700" cap="flat">
              <a:solidFill>
                <a:srgbClr val="ABBEEE"/>
              </a:solidFill>
              <a:prstDash val="solid"/>
              <a:miter lim="400000"/>
            </a:ln>
          </a:top>
          <a:bottom>
            <a:ln w="12700" cap="flat">
              <a:solidFill>
                <a:srgbClr val="ABBEEE"/>
              </a:solidFill>
              <a:prstDash val="solid"/>
              <a:miter lim="400000"/>
            </a:ln>
          </a:bottom>
          <a:insideH>
            <a:ln w="12700" cap="flat">
              <a:solidFill>
                <a:srgbClr val="ABBEEE"/>
              </a:solidFill>
              <a:prstDash val="solid"/>
              <a:miter lim="400000"/>
            </a:ln>
          </a:insideH>
          <a:insideV>
            <a:ln w="12700" cap="flat">
              <a:solidFill>
                <a:srgbClr val="ABBEEE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24"/>
    <p:restoredTop sz="94706"/>
  </p:normalViewPr>
  <p:slideViewPr>
    <p:cSldViewPr snapToGrid="0">
      <p:cViewPr varScale="1">
        <p:scale>
          <a:sx n="141" d="100"/>
          <a:sy n="141" d="100"/>
        </p:scale>
        <p:origin x="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hape 25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8" name="Shape 25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E655-0CB8-CB15-0B7A-9838E67F1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5600" y="1596249"/>
            <a:ext cx="9753600" cy="3395698"/>
          </a:xfrm>
        </p:spPr>
        <p:txBody>
          <a:bodyPr anchor="b"/>
          <a:lstStyle>
            <a:lvl1pPr algn="ctr">
              <a:defRPr sz="64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A7624-8BE9-E903-0317-C1950FC82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5600" y="5122898"/>
            <a:ext cx="9753600" cy="2354862"/>
          </a:xfrm>
        </p:spPr>
        <p:txBody>
          <a:bodyPr/>
          <a:lstStyle>
            <a:lvl1pPr marL="0" indent="0" algn="ctr">
              <a:buNone/>
              <a:defRPr sz="2560"/>
            </a:lvl1pPr>
            <a:lvl2pPr marL="487695" indent="0" algn="ctr">
              <a:buNone/>
              <a:defRPr sz="2133"/>
            </a:lvl2pPr>
            <a:lvl3pPr marL="975390" indent="0" algn="ctr">
              <a:buNone/>
              <a:defRPr sz="1920"/>
            </a:lvl3pPr>
            <a:lvl4pPr marL="1463086" indent="0" algn="ctr">
              <a:buNone/>
              <a:defRPr sz="1707"/>
            </a:lvl4pPr>
            <a:lvl5pPr marL="1950781" indent="0" algn="ctr">
              <a:buNone/>
              <a:defRPr sz="1707"/>
            </a:lvl5pPr>
            <a:lvl6pPr marL="2438476" indent="0" algn="ctr">
              <a:buNone/>
              <a:defRPr sz="1707"/>
            </a:lvl6pPr>
            <a:lvl7pPr marL="2926171" indent="0" algn="ctr">
              <a:buNone/>
              <a:defRPr sz="1707"/>
            </a:lvl7pPr>
            <a:lvl8pPr marL="3413867" indent="0" algn="ctr">
              <a:buNone/>
              <a:defRPr sz="1707"/>
            </a:lvl8pPr>
            <a:lvl9pPr marL="3901562" indent="0" algn="ctr">
              <a:buNone/>
              <a:defRPr sz="1707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AEB73-BDAD-841F-218C-FE561E20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E7D61-5871-54D4-ABCD-187D3E3F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01217-61F2-0036-142D-96F8B662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42496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D7EDD-701C-FFD1-27AB-0FAE4ED2A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B29EF-D8F1-0BC1-612B-B9D631925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514AE-8D31-CA54-B3A2-1C1C86C1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F172C-4C01-4A20-52E6-AA72B474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5CBCF-BF96-F7C6-DC32-275E96949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73436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E85E-0149-B774-F697-A31D5ECF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07" y="2431628"/>
            <a:ext cx="11216640" cy="4057226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9543D-D3BF-ECB8-0169-B003CAE56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307" y="6527237"/>
            <a:ext cx="11216640" cy="2133599"/>
          </a:xfrm>
        </p:spPr>
        <p:txBody>
          <a:bodyPr/>
          <a:lstStyle>
            <a:lvl1pPr marL="0" indent="0">
              <a:buNone/>
              <a:defRPr sz="2560">
                <a:solidFill>
                  <a:schemeClr val="tx1">
                    <a:tint val="82000"/>
                  </a:schemeClr>
                </a:solidFill>
              </a:defRPr>
            </a:lvl1pPr>
            <a:lvl2pPr marL="487695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2pPr>
            <a:lvl3pPr marL="97539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3pPr>
            <a:lvl4pPr marL="146308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4pPr>
            <a:lvl5pPr marL="195078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5pPr>
            <a:lvl6pPr marL="2438476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6pPr>
            <a:lvl7pPr marL="2926171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7pPr>
            <a:lvl8pPr marL="3413867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8pPr>
            <a:lvl9pPr marL="3901562" indent="0">
              <a:buNone/>
              <a:defRPr sz="17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89B10-7858-99B4-B368-4F67B37E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42338-5527-3B6A-86DA-0AB5CE87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8BF7F-8CC7-2536-2584-D1C688B8F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8814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18E28-48D1-0A56-15DB-775639C69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67A0C-A08F-A018-E405-91635EA0F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40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CB1C8-E214-77C5-B63C-B5A439596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3680" y="2596444"/>
            <a:ext cx="5527040" cy="61885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08433-79F2-64D1-5CC0-4169F7B1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83CC4-737F-0D45-3F17-2A5115897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9402C-AEE4-FCBB-6D88-6AF0D05B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1152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F0D18-9B5A-EBC4-317D-A037CC6A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519290"/>
            <a:ext cx="11216640" cy="18852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B04B5-2473-15AE-69A0-82BFC1374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775" y="2390987"/>
            <a:ext cx="5501639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62841E-4F83-286E-E01D-D00F49350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775" y="3562773"/>
            <a:ext cx="5501639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C3D00-2421-61E6-4E68-A3F5D40C6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80" y="2390987"/>
            <a:ext cx="5528734" cy="1171786"/>
          </a:xfrm>
        </p:spPr>
        <p:txBody>
          <a:bodyPr anchor="b"/>
          <a:lstStyle>
            <a:lvl1pPr marL="0" indent="0">
              <a:buNone/>
              <a:defRPr sz="2560" b="1"/>
            </a:lvl1pPr>
            <a:lvl2pPr marL="487695" indent="0">
              <a:buNone/>
              <a:defRPr sz="2133" b="1"/>
            </a:lvl2pPr>
            <a:lvl3pPr marL="975390" indent="0">
              <a:buNone/>
              <a:defRPr sz="1920" b="1"/>
            </a:lvl3pPr>
            <a:lvl4pPr marL="1463086" indent="0">
              <a:buNone/>
              <a:defRPr sz="1707" b="1"/>
            </a:lvl4pPr>
            <a:lvl5pPr marL="1950781" indent="0">
              <a:buNone/>
              <a:defRPr sz="1707" b="1"/>
            </a:lvl5pPr>
            <a:lvl6pPr marL="2438476" indent="0">
              <a:buNone/>
              <a:defRPr sz="1707" b="1"/>
            </a:lvl6pPr>
            <a:lvl7pPr marL="2926171" indent="0">
              <a:buNone/>
              <a:defRPr sz="1707" b="1"/>
            </a:lvl7pPr>
            <a:lvl8pPr marL="3413867" indent="0">
              <a:buNone/>
              <a:defRPr sz="1707" b="1"/>
            </a:lvl8pPr>
            <a:lvl9pPr marL="3901562" indent="0">
              <a:buNone/>
              <a:defRPr sz="17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F8EAC-74D4-E084-BE93-8280F2EC3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3680" y="3562773"/>
            <a:ext cx="5528734" cy="5240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64CF61-7FD8-CBC7-6783-D76890CB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0B85E3-20FB-2121-FE63-071343B6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F89548-6661-9C78-1533-C4A7044C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57741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F0E9-5A98-4046-023F-B48FC0A3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6CA9E-DD16-D532-68D2-EB74A9062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7B1D2A-402D-ABC8-E695-9296D30C6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3D2BD-9D43-46CE-D5CA-A5F89508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6919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4DEDE-809E-92B4-9010-B53669CD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0FFC3-1A3C-2EE8-6B9B-F29CC7E41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89726-946A-B8EA-9F28-C40FC836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631296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3F932-150C-BD73-E637-14A8E4F9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F26F0-D1AB-308E-1871-9B1F07E03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>
              <a:defRPr sz="3413"/>
            </a:lvl1pPr>
            <a:lvl2pPr>
              <a:defRPr sz="2987"/>
            </a:lvl2pPr>
            <a:lvl3pPr>
              <a:defRPr sz="256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C3812-FE3C-59A9-4440-639DCA76C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6E2EE-E5AA-0EC9-25E8-3EA7FFB58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D8764-0779-DE77-F96D-7400DE941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B2096-1BD7-9EAA-8006-92772766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8808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A525-2782-B2C4-5C99-C061B597E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774" y="650240"/>
            <a:ext cx="4194386" cy="2275840"/>
          </a:xfrm>
        </p:spPr>
        <p:txBody>
          <a:bodyPr anchor="b"/>
          <a:lstStyle>
            <a:lvl1pPr>
              <a:defRPr sz="3413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09501-63C9-D054-E0A2-657476952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8734" y="1404338"/>
            <a:ext cx="6583680" cy="6931378"/>
          </a:xfrm>
        </p:spPr>
        <p:txBody>
          <a:bodyPr/>
          <a:lstStyle>
            <a:lvl1pPr marL="0" indent="0">
              <a:buNone/>
              <a:defRPr sz="3413"/>
            </a:lvl1pPr>
            <a:lvl2pPr marL="487695" indent="0">
              <a:buNone/>
              <a:defRPr sz="2987"/>
            </a:lvl2pPr>
            <a:lvl3pPr marL="975390" indent="0">
              <a:buNone/>
              <a:defRPr sz="2560"/>
            </a:lvl3pPr>
            <a:lvl4pPr marL="1463086" indent="0">
              <a:buNone/>
              <a:defRPr sz="2133"/>
            </a:lvl4pPr>
            <a:lvl5pPr marL="1950781" indent="0">
              <a:buNone/>
              <a:defRPr sz="2133"/>
            </a:lvl5pPr>
            <a:lvl6pPr marL="2438476" indent="0">
              <a:buNone/>
              <a:defRPr sz="2133"/>
            </a:lvl6pPr>
            <a:lvl7pPr marL="2926171" indent="0">
              <a:buNone/>
              <a:defRPr sz="2133"/>
            </a:lvl7pPr>
            <a:lvl8pPr marL="3413867" indent="0">
              <a:buNone/>
              <a:defRPr sz="2133"/>
            </a:lvl8pPr>
            <a:lvl9pPr marL="3901562" indent="0">
              <a:buNone/>
              <a:defRPr sz="2133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2015F-CAF0-E23A-2DBC-FEA9F2F8D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5774" y="2926080"/>
            <a:ext cx="4194386" cy="5420925"/>
          </a:xfrm>
        </p:spPr>
        <p:txBody>
          <a:bodyPr/>
          <a:lstStyle>
            <a:lvl1pPr marL="0" indent="0">
              <a:buNone/>
              <a:defRPr sz="1707"/>
            </a:lvl1pPr>
            <a:lvl2pPr marL="487695" indent="0">
              <a:buNone/>
              <a:defRPr sz="1493"/>
            </a:lvl2pPr>
            <a:lvl3pPr marL="975390" indent="0">
              <a:buNone/>
              <a:defRPr sz="1280"/>
            </a:lvl3pPr>
            <a:lvl4pPr marL="1463086" indent="0">
              <a:buNone/>
              <a:defRPr sz="1067"/>
            </a:lvl4pPr>
            <a:lvl5pPr marL="1950781" indent="0">
              <a:buNone/>
              <a:defRPr sz="1067"/>
            </a:lvl5pPr>
            <a:lvl6pPr marL="2438476" indent="0">
              <a:buNone/>
              <a:defRPr sz="1067"/>
            </a:lvl6pPr>
            <a:lvl7pPr marL="2926171" indent="0">
              <a:buNone/>
              <a:defRPr sz="1067"/>
            </a:lvl7pPr>
            <a:lvl8pPr marL="3413867" indent="0">
              <a:buNone/>
              <a:defRPr sz="1067"/>
            </a:lvl8pPr>
            <a:lvl9pPr marL="3901562" indent="0">
              <a:buNone/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827C7-5511-921D-F439-AD0E43ED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15F92-A93A-539E-47BE-F0875C3E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2EEC1-DEF2-B560-D4C9-D4872CBD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0904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90B8-3DEB-DBDB-E7C1-82897D802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715AE-B47F-6EC5-F74F-6F2389324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99F95-418B-C38B-7B37-5ACE12F8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EDE23-30AC-2C3B-0C7D-C7C3BD313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2B2DB-BFB8-22D1-57E0-FA4AC3A38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620521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D88927-64F0-6462-EB01-981E720CC3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06560" y="519289"/>
            <a:ext cx="2804160" cy="82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1DFFEE-A2EC-784B-75F5-75383B8FD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4080" y="519289"/>
            <a:ext cx="8249920" cy="82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D155C-E54A-08A7-A01F-62ADCBB2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0BD60-E312-39B8-9DD6-8869E5A5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B3B22-E8FF-D500-92BF-75F22648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47671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xfrm>
            <a:off x="1270000" y="3644900"/>
            <a:ext cx="10464800" cy="24765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529950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1270000" y="774700"/>
            <a:ext cx="10464800" cy="2476500"/>
          </a:xfrm>
          <a:prstGeom prst="rect">
            <a:avLst/>
          </a:prstGeom>
        </p:spPr>
        <p:txBody>
          <a:bodyPr anchor="ctr"/>
          <a:lstStyle>
            <a:lvl1pPr>
              <a:defRPr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803400" y="3365500"/>
            <a:ext cx="9118600" cy="5461000"/>
          </a:xfrm>
          <a:prstGeom prst="rect">
            <a:avLst/>
          </a:prstGeom>
        </p:spPr>
        <p:txBody>
          <a:bodyPr anchor="ctr"/>
          <a:lstStyle>
            <a:lvl1pPr marL="626758" indent="-372758" algn="l">
              <a:lnSpc>
                <a:spcPts val="4800"/>
              </a:lnSpc>
              <a:spcBef>
                <a:spcPts val="2600"/>
              </a:spcBef>
              <a:buSzPct val="171429"/>
              <a:buChar char="•"/>
              <a:tabLst>
                <a:tab pos="1447800" algn="l"/>
              </a:tabLst>
              <a:defRPr sz="4000">
                <a:latin typeface="서울한강체 M"/>
                <a:ea typeface="서울한강체 M"/>
                <a:cs typeface="서울한강체 M"/>
                <a:sym typeface="서울한강체 M"/>
              </a:defRPr>
            </a:lvl1pPr>
            <a:lvl2pPr marL="966943" indent="-357343" algn="l">
              <a:lnSpc>
                <a:spcPts val="4000"/>
              </a:lnSpc>
              <a:spcBef>
                <a:spcPts val="2600"/>
              </a:spcBef>
              <a:buSzPct val="171429"/>
              <a:buChar char="•"/>
              <a:tabLst>
                <a:tab pos="1879600" algn="l"/>
              </a:tabLst>
              <a:defRPr sz="3400">
                <a:latin typeface="서울한강체 M"/>
                <a:ea typeface="서울한강체 M"/>
                <a:cs typeface="서울한강체 M"/>
                <a:sym typeface="서울한강체 M"/>
              </a:defRPr>
            </a:lvl2pPr>
            <a:lvl3pPr marL="1294429" indent="-341929" algn="l">
              <a:lnSpc>
                <a:spcPts val="3800"/>
              </a:lnSpc>
              <a:spcBef>
                <a:spcPts val="2600"/>
              </a:spcBef>
              <a:buSzPct val="171429"/>
              <a:buChar char="•"/>
              <a:tabLst>
                <a:tab pos="2298700" algn="l"/>
              </a:tabLst>
              <a:defRPr sz="3200">
                <a:latin typeface="서울한강체 M"/>
                <a:ea typeface="서울한강체 M"/>
                <a:cs typeface="서울한강체 M"/>
                <a:sym typeface="서울한강체 M"/>
              </a:defRPr>
            </a:lvl3pPr>
            <a:lvl4pPr marL="1621915" indent="-326515" algn="l">
              <a:lnSpc>
                <a:spcPts val="3600"/>
              </a:lnSpc>
              <a:spcBef>
                <a:spcPts val="2600"/>
              </a:spcBef>
              <a:buSzPct val="171429"/>
              <a:buChar char="•"/>
              <a:tabLst>
                <a:tab pos="2717800" algn="l"/>
              </a:tabLst>
              <a:defRPr sz="3000">
                <a:latin typeface="서울한강체 M"/>
                <a:ea typeface="서울한강체 M"/>
                <a:cs typeface="서울한강체 M"/>
                <a:sym typeface="서울한강체 M"/>
              </a:defRPr>
            </a:lvl4pPr>
            <a:lvl5pPr marL="1977515" indent="-326515" algn="l">
              <a:lnSpc>
                <a:spcPts val="3300"/>
              </a:lnSpc>
              <a:spcBef>
                <a:spcPts val="2600"/>
              </a:spcBef>
              <a:buSzPct val="171429"/>
              <a:buChar char="•"/>
              <a:tabLst>
                <a:tab pos="3175000" algn="l"/>
              </a:tabLst>
              <a:defRPr sz="2800">
                <a:latin typeface="서울한강체 M"/>
                <a:ea typeface="서울한강체 M"/>
                <a:cs typeface="서울한강체 M"/>
                <a:sym typeface="서울한강체 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3622645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ody Level One…"/>
          <p:cNvSpPr txBox="1">
            <a:spLocks noGrp="1"/>
          </p:cNvSpPr>
          <p:nvPr>
            <p:ph type="body" idx="1"/>
          </p:nvPr>
        </p:nvSpPr>
        <p:spPr>
          <a:xfrm>
            <a:off x="1803400" y="927100"/>
            <a:ext cx="9118600" cy="7899400"/>
          </a:xfrm>
          <a:prstGeom prst="rect">
            <a:avLst/>
          </a:prstGeom>
        </p:spPr>
        <p:txBody>
          <a:bodyPr anchor="ctr"/>
          <a:lstStyle>
            <a:lvl1pPr marL="626758" indent="-372758" algn="l">
              <a:lnSpc>
                <a:spcPts val="4800"/>
              </a:lnSpc>
              <a:spcBef>
                <a:spcPts val="2600"/>
              </a:spcBef>
              <a:buSzPct val="171429"/>
              <a:buChar char="•"/>
              <a:tabLst>
                <a:tab pos="1447800" algn="l"/>
              </a:tabLst>
              <a:defRPr sz="4000">
                <a:latin typeface="서울한강체 M"/>
                <a:ea typeface="서울한강체 M"/>
                <a:cs typeface="서울한강체 M"/>
                <a:sym typeface="서울한강체 M"/>
              </a:defRPr>
            </a:lvl1pPr>
            <a:lvl2pPr marL="966943" indent="-357343" algn="l">
              <a:lnSpc>
                <a:spcPts val="4000"/>
              </a:lnSpc>
              <a:spcBef>
                <a:spcPts val="2600"/>
              </a:spcBef>
              <a:buSzPct val="171429"/>
              <a:buChar char="•"/>
              <a:tabLst>
                <a:tab pos="1879600" algn="l"/>
              </a:tabLst>
              <a:defRPr sz="3400">
                <a:latin typeface="서울한강체 M"/>
                <a:ea typeface="서울한강체 M"/>
                <a:cs typeface="서울한강체 M"/>
                <a:sym typeface="서울한강체 M"/>
              </a:defRPr>
            </a:lvl2pPr>
            <a:lvl3pPr marL="1294429" indent="-341929" algn="l">
              <a:lnSpc>
                <a:spcPts val="3800"/>
              </a:lnSpc>
              <a:spcBef>
                <a:spcPts val="2600"/>
              </a:spcBef>
              <a:buSzPct val="171429"/>
              <a:buChar char="•"/>
              <a:tabLst>
                <a:tab pos="2298700" algn="l"/>
              </a:tabLst>
              <a:defRPr sz="3200">
                <a:latin typeface="서울한강체 M"/>
                <a:ea typeface="서울한강체 M"/>
                <a:cs typeface="서울한강체 M"/>
                <a:sym typeface="서울한강체 M"/>
              </a:defRPr>
            </a:lvl3pPr>
            <a:lvl4pPr marL="1621915" indent="-326515" algn="l">
              <a:lnSpc>
                <a:spcPts val="3600"/>
              </a:lnSpc>
              <a:spcBef>
                <a:spcPts val="2600"/>
              </a:spcBef>
              <a:buSzPct val="171429"/>
              <a:buChar char="•"/>
              <a:tabLst>
                <a:tab pos="2717800" algn="l"/>
              </a:tabLst>
              <a:defRPr sz="3000">
                <a:latin typeface="서울한강체 M"/>
                <a:ea typeface="서울한강체 M"/>
                <a:cs typeface="서울한강체 M"/>
                <a:sym typeface="서울한강체 M"/>
              </a:defRPr>
            </a:lvl4pPr>
            <a:lvl5pPr marL="1977515" indent="-326515" algn="l">
              <a:lnSpc>
                <a:spcPts val="3300"/>
              </a:lnSpc>
              <a:spcBef>
                <a:spcPts val="2600"/>
              </a:spcBef>
              <a:buSzPct val="171429"/>
              <a:buChar char="•"/>
              <a:tabLst>
                <a:tab pos="3175000" algn="l"/>
              </a:tabLst>
              <a:defRPr sz="2800">
                <a:latin typeface="서울한강체 M"/>
                <a:ea typeface="서울한강체 M"/>
                <a:cs typeface="서울한강체 M"/>
                <a:sym typeface="서울한강체 M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501595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F97C21-6A09-7B62-BB8B-988A5EBC5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080" y="519290"/>
            <a:ext cx="11216640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4150B-B5B7-B185-A132-47EDFEC16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4080" y="2596444"/>
            <a:ext cx="11216640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EA046-EAE0-0BE9-E43E-3D83A6710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408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D978F-1653-C649-AFA8-A0E85E764B13}" type="datetimeFigureOut">
              <a:rPr lang="en-KR" smtClean="0"/>
              <a:t>6/12/24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430C0-5F4D-0EC6-42EC-B2E7D5D9F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07840" y="9040143"/>
            <a:ext cx="438912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7ACFA-03FA-E168-1437-3CDFFD4CF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84640" y="9040143"/>
            <a:ext cx="29260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CB4B4D-7CA3-9044-876B-883B54F8677D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15474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1" name="Rectangle 490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시뮬레이션 모형"/>
          <p:cNvSpPr txBox="1">
            <a:spLocks noGrp="1"/>
          </p:cNvSpPr>
          <p:nvPr>
            <p:ph type="title"/>
          </p:nvPr>
        </p:nvSpPr>
        <p:spPr>
          <a:xfrm>
            <a:off x="1418417" y="1630452"/>
            <a:ext cx="9615304" cy="34161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ABM for PHDG</a:t>
            </a: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6221587"/>
            <a:ext cx="13004806" cy="353201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683365" y="6221587"/>
            <a:ext cx="4321433" cy="3532013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228521"/>
            <a:ext cx="13004782" cy="2778920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6230651"/>
            <a:ext cx="13004799" cy="2872097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4" name="Rectangle 49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6" name="Rectangle 49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1548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723290" y="2723287"/>
            <a:ext cx="9753600" cy="4307025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723290" y="2737705"/>
            <a:ext cx="9753599" cy="43070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74322" y="5820893"/>
            <a:ext cx="3558370" cy="430703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4" name="Freeform: Shape 50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35186" y="1379154"/>
            <a:ext cx="4160380" cy="594340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723300" y="2708867"/>
            <a:ext cx="9753604" cy="430702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전체 구조"/>
          <p:cNvSpPr txBox="1">
            <a:spLocks noGrp="1"/>
          </p:cNvSpPr>
          <p:nvPr>
            <p:ph type="title"/>
          </p:nvPr>
        </p:nvSpPr>
        <p:spPr>
          <a:xfrm>
            <a:off x="497836" y="834638"/>
            <a:ext cx="3414791" cy="48177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전체 구조</a:t>
            </a:r>
          </a:p>
        </p:txBody>
      </p:sp>
      <p:sp>
        <p:nvSpPr>
          <p:cNvPr id="489" name="N명의 행위자가 임의의 전략을 취한 상태로 생성됨…"/>
          <p:cNvSpPr txBox="1">
            <a:spLocks noGrp="1"/>
          </p:cNvSpPr>
          <p:nvPr>
            <p:ph type="body" sz="half" idx="1"/>
          </p:nvPr>
        </p:nvSpPr>
        <p:spPr>
          <a:xfrm>
            <a:off x="5130942" y="923704"/>
            <a:ext cx="6992371" cy="7887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6617" indent="-228600" defTabSz="914400">
              <a:lnSpc>
                <a:spcPct val="90000"/>
              </a:lnSpc>
              <a:spcBef>
                <a:spcPts val="2300"/>
              </a:spcBef>
              <a:tabLst>
                <a:tab pos="1333500" algn="l"/>
              </a:tabLst>
              <a:defRPr sz="3680"/>
            </a:pPr>
            <a:r>
              <a:rPr lang="en-US" sz="2500">
                <a:latin typeface="+mn-lt"/>
                <a:ea typeface="+mn-ea"/>
                <a:cs typeface="+mn-cs"/>
              </a:rPr>
              <a:t>N명의 행위자가 임의의 전략을 취한 상태로 생성됨</a:t>
            </a:r>
          </a:p>
          <a:p>
            <a:pPr marL="576617" indent="-228600" defTabSz="914400">
              <a:lnSpc>
                <a:spcPct val="90000"/>
              </a:lnSpc>
              <a:spcBef>
                <a:spcPts val="2300"/>
              </a:spcBef>
              <a:tabLst>
                <a:tab pos="1333500" algn="l"/>
              </a:tabLst>
              <a:defRPr sz="3680"/>
            </a:pPr>
            <a:r>
              <a:rPr lang="en-US" sz="2500">
                <a:latin typeface="+mn-lt"/>
                <a:ea typeface="+mn-ea"/>
                <a:cs typeface="+mn-cs"/>
              </a:rPr>
              <a:t>동일한 금액으로 자신의 전략에 맞추어 투자 포트폴리오를 결정</a:t>
            </a:r>
          </a:p>
          <a:p>
            <a:pPr marL="576617" indent="-228600" defTabSz="914400">
              <a:lnSpc>
                <a:spcPct val="90000"/>
              </a:lnSpc>
              <a:spcBef>
                <a:spcPts val="2300"/>
              </a:spcBef>
              <a:tabLst>
                <a:tab pos="1333500" algn="l"/>
              </a:tabLst>
              <a:defRPr sz="3680"/>
            </a:pPr>
            <a:r>
              <a:rPr lang="en-US" sz="2500">
                <a:latin typeface="+mn-lt"/>
                <a:ea typeface="+mn-ea"/>
                <a:cs typeface="+mn-cs"/>
              </a:rPr>
              <a:t>흉내내기: 이웃들 중 자신보다 더 높은 수익을 거두는 이웃의 전략을 흉내냄</a:t>
            </a:r>
          </a:p>
          <a:p>
            <a:pPr marL="576617" indent="-228600" defTabSz="914400">
              <a:lnSpc>
                <a:spcPct val="90000"/>
              </a:lnSpc>
              <a:spcBef>
                <a:spcPts val="2300"/>
              </a:spcBef>
              <a:tabLst>
                <a:tab pos="1333500" algn="l"/>
              </a:tabLst>
              <a:defRPr sz="3680"/>
            </a:pPr>
            <a:r>
              <a:rPr lang="en-US" sz="2500">
                <a:latin typeface="+mn-lt"/>
                <a:ea typeface="+mn-ea"/>
                <a:cs typeface="+mn-cs"/>
              </a:rPr>
              <a:t>돌연변이: 임의의 행위자가 임의의 전략으로 바꿈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" grpId="1" build="p" bldLvl="5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7" name="Rectangle 49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9" name="Rectangle 49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1548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723290" y="2723287"/>
            <a:ext cx="9753600" cy="4307025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723290" y="2737705"/>
            <a:ext cx="9753599" cy="430702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74322" y="5820893"/>
            <a:ext cx="3558370" cy="430703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7" name="Freeform: Shape 50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35186" y="1379154"/>
            <a:ext cx="4160380" cy="594340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723300" y="2708867"/>
            <a:ext cx="9753604" cy="430702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정보 제공여부"/>
          <p:cNvSpPr txBox="1">
            <a:spLocks noGrp="1"/>
          </p:cNvSpPr>
          <p:nvPr>
            <p:ph type="title"/>
          </p:nvPr>
        </p:nvSpPr>
        <p:spPr>
          <a:xfrm>
            <a:off x="497836" y="834638"/>
            <a:ext cx="3414791" cy="48177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정보 제공여부</a:t>
            </a:r>
          </a:p>
        </p:txBody>
      </p:sp>
      <p:sp>
        <p:nvSpPr>
          <p:cNvPr id="492" name="정보 환경에 따라 두 가지 게임 환경 존재…"/>
          <p:cNvSpPr txBox="1">
            <a:spLocks noGrp="1"/>
          </p:cNvSpPr>
          <p:nvPr>
            <p:ph type="body" sz="half" idx="1"/>
          </p:nvPr>
        </p:nvSpPr>
        <p:spPr>
          <a:xfrm>
            <a:off x="5130942" y="923704"/>
            <a:ext cx="6992371" cy="7887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정보 환경에 따라 두 가지 게임 환경 존재</a:t>
            </a:r>
          </a:p>
          <a:p>
            <a:pPr lvl="1"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정보제공환경(INFO): 모든 실현된 총 위험자산투자비율을 제공</a:t>
            </a:r>
          </a:p>
          <a:p>
            <a:pPr lvl="1"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비정보제공환경(NO INFO): 위 정보 접근 불가</a:t>
            </a:r>
          </a:p>
          <a:p>
            <a:pPr lvl="2"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오직 실현된 기의 거시상태(파산, 보통)만을 자신의 포트폴리오 수익을 통해 알 수 있음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3" name="Rectangle 50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공간 구조:…"/>
          <p:cNvSpPr txBox="1">
            <a:spLocks noGrp="1"/>
          </p:cNvSpPr>
          <p:nvPr>
            <p:ph type="title"/>
          </p:nvPr>
        </p:nvSpPr>
        <p:spPr>
          <a:xfrm>
            <a:off x="438912" y="1410052"/>
            <a:ext cx="4739364" cy="154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tabLst>
                <a:tab pos="1143000" algn="l"/>
              </a:tabLst>
              <a:defRPr sz="7519"/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공간 구조: </a:t>
            </a:r>
          </a:p>
          <a:p>
            <a:pPr defTabSz="914400">
              <a:tabLst>
                <a:tab pos="1143000" algn="l"/>
              </a:tabLst>
              <a:defRPr sz="7519"/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토러스 격자 공간</a:t>
            </a: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9500" y="649271"/>
            <a:ext cx="104038" cy="5852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3250547"/>
            <a:ext cx="4681728" cy="26009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95" name="torus_neighbor_global.pdf" descr="torus_neighbor_global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029" y="3215569"/>
            <a:ext cx="2865627" cy="2846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496" name="torus_neighbor.pdf" descr="torus_neighbor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870" y="3109435"/>
            <a:ext cx="3145436" cy="3058599"/>
          </a:xfrm>
          <a:prstGeom prst="rect">
            <a:avLst/>
          </a:prstGeom>
          <a:ln w="12700">
            <a:miter lim="400000"/>
          </a:ln>
        </p:spPr>
      </p:pic>
      <p:sp>
        <p:nvSpPr>
          <p:cNvPr id="497" name="Local Neighbor"/>
          <p:cNvSpPr txBox="1"/>
          <p:nvPr/>
        </p:nvSpPr>
        <p:spPr>
          <a:xfrm>
            <a:off x="6389530" y="6168034"/>
            <a:ext cx="1853685" cy="397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indent="0">
              <a:spcBef>
                <a:spcPts val="0"/>
              </a:spcBef>
              <a:tabLst>
                <a:tab pos="1066800" algn="l"/>
              </a:tabLst>
            </a:lvl1pPr>
          </a:lstStyle>
          <a:p>
            <a:pPr defTabSz="685800">
              <a:spcAft>
                <a:spcPts val="600"/>
              </a:spcAft>
              <a:tabLst>
                <a:tab pos="800100" algn="l"/>
              </a:tabLst>
            </a:pPr>
            <a:r>
              <a:rPr sz="13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 Neighbor</a:t>
            </a:r>
            <a:endParaRPr/>
          </a:p>
        </p:txBody>
      </p:sp>
      <p:sp>
        <p:nvSpPr>
          <p:cNvPr id="498" name="Global Neighbor"/>
          <p:cNvSpPr txBox="1"/>
          <p:nvPr/>
        </p:nvSpPr>
        <p:spPr>
          <a:xfrm>
            <a:off x="10200427" y="6168034"/>
            <a:ext cx="1973636" cy="3974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indent="0">
              <a:spcBef>
                <a:spcPts val="0"/>
              </a:spcBef>
              <a:tabLst>
                <a:tab pos="1066800" algn="l"/>
              </a:tabLst>
            </a:lvl1pPr>
          </a:lstStyle>
          <a:p>
            <a:pPr defTabSz="685800">
              <a:spcAft>
                <a:spcPts val="600"/>
              </a:spcAft>
              <a:tabLst>
                <a:tab pos="800100" algn="l"/>
              </a:tabLst>
            </a:pPr>
            <a:r>
              <a:rPr sz="13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 Neighbor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6" name="Rectangle 50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734409" y="2734409"/>
            <a:ext cx="9778941" cy="4310127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943389" y="4501758"/>
            <a:ext cx="6194623" cy="430784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2478731" y="2966414"/>
            <a:ext cx="9752991" cy="382016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" name="Freeform: Shape 51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651988" y="2435407"/>
            <a:ext cx="6838474" cy="4361244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00" name="전체 과정"/>
          <p:cNvSpPr txBox="1">
            <a:spLocks noGrp="1"/>
          </p:cNvSpPr>
          <p:nvPr>
            <p:ph type="title"/>
          </p:nvPr>
        </p:nvSpPr>
        <p:spPr>
          <a:xfrm>
            <a:off x="704043" y="3935439"/>
            <a:ext cx="3072883" cy="4368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전체 과정</a:t>
            </a:r>
          </a:p>
        </p:txBody>
      </p:sp>
      <p:pic>
        <p:nvPicPr>
          <p:cNvPr id="501" name="FlowChart.pdf" descr="FlowChart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589" y="1090507"/>
            <a:ext cx="7707465" cy="7572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9" name="Rectangle 50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3004798" cy="2241358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670779" cy="2240655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3004801" cy="2239019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매개변수 세팅"/>
          <p:cNvSpPr txBox="1">
            <a:spLocks noGrp="1"/>
          </p:cNvSpPr>
          <p:nvPr>
            <p:ph type="title"/>
          </p:nvPr>
        </p:nvSpPr>
        <p:spPr>
          <a:xfrm>
            <a:off x="746360" y="352765"/>
            <a:ext cx="7534636" cy="16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5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매개변수</a:t>
            </a:r>
            <a:r>
              <a:rPr lang="en-US" sz="5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세팅</a:t>
            </a:r>
            <a:endParaRPr lang="en-US" sz="5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04" name="ch1.3.tb1_tmp.jpg" descr="ch1.3.tb1_tm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398" y="2796505"/>
            <a:ext cx="8144001" cy="63319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4" name="Rectangle 51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3004797" cy="22623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656326" cy="2262388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656318" y="-1"/>
            <a:ext cx="4348478" cy="2262388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73" y="-1"/>
            <a:ext cx="12514822" cy="227190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실험모형과의 차이"/>
          <p:cNvSpPr txBox="1">
            <a:spLocks noGrp="1"/>
          </p:cNvSpPr>
          <p:nvPr>
            <p:ph type="title"/>
          </p:nvPr>
        </p:nvSpPr>
        <p:spPr>
          <a:xfrm>
            <a:off x="1463038" y="418898"/>
            <a:ext cx="10555682" cy="1470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실험모형과의 차이</a:t>
            </a:r>
          </a:p>
        </p:txBody>
      </p:sp>
      <p:sp>
        <p:nvSpPr>
          <p:cNvPr id="509" name="시뮬레이션: 행위자는 이웃의 보유자산과 전략을 관찰 가능…"/>
          <p:cNvSpPr txBox="1">
            <a:spLocks noGrp="1"/>
          </p:cNvSpPr>
          <p:nvPr>
            <p:ph type="body" sz="half" idx="1"/>
          </p:nvPr>
        </p:nvSpPr>
        <p:spPr>
          <a:xfrm>
            <a:off x="1463038" y="3296991"/>
            <a:ext cx="10372300" cy="5238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</a:pPr>
            <a:r>
              <a:rPr lang="en-US" sz="2500" dirty="0" err="1">
                <a:latin typeface="+mn-lt"/>
                <a:ea typeface="+mn-ea"/>
                <a:cs typeface="+mn-cs"/>
              </a:rPr>
              <a:t>시뮬레이션</a:t>
            </a:r>
            <a:r>
              <a:rPr lang="en-US" sz="2500" dirty="0">
                <a:latin typeface="+mn-lt"/>
                <a:ea typeface="+mn-ea"/>
                <a:cs typeface="+mn-cs"/>
              </a:rPr>
              <a:t>: </a:t>
            </a:r>
            <a:r>
              <a:rPr lang="en-US" sz="2500" dirty="0" err="1">
                <a:latin typeface="+mn-lt"/>
                <a:ea typeface="+mn-ea"/>
                <a:cs typeface="+mn-cs"/>
              </a:rPr>
              <a:t>행위자는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이웃의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보유자산과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전략을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관찰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가능</a:t>
            </a:r>
            <a:endParaRPr lang="en-US" sz="2500" dirty="0">
              <a:latin typeface="+mn-lt"/>
              <a:ea typeface="+mn-ea"/>
              <a:cs typeface="+mn-cs"/>
            </a:endParaRPr>
          </a:p>
          <a:p>
            <a:pPr indent="-228600" defTabSz="914400">
              <a:lnSpc>
                <a:spcPct val="90000"/>
              </a:lnSpc>
            </a:pPr>
            <a:r>
              <a:rPr lang="en-US" sz="2500" dirty="0" err="1">
                <a:latin typeface="+mn-lt"/>
                <a:ea typeface="+mn-ea"/>
                <a:cs typeface="+mn-cs"/>
              </a:rPr>
              <a:t>실험</a:t>
            </a:r>
            <a:r>
              <a:rPr lang="en-US" sz="2500" dirty="0">
                <a:latin typeface="+mn-lt"/>
                <a:ea typeface="+mn-ea"/>
                <a:cs typeface="+mn-cs"/>
              </a:rPr>
              <a:t>: </a:t>
            </a:r>
            <a:r>
              <a:rPr lang="en-US" sz="2500" dirty="0" err="1">
                <a:latin typeface="+mn-lt"/>
                <a:ea typeface="+mn-ea"/>
                <a:cs typeface="+mn-cs"/>
              </a:rPr>
              <a:t>행위자는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오직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자신의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보유자산과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전략만을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알고</a:t>
            </a:r>
            <a:r>
              <a:rPr lang="en-US" sz="2500" dirty="0">
                <a:latin typeface="+mn-lt"/>
                <a:ea typeface="+mn-ea"/>
                <a:cs typeface="+mn-cs"/>
              </a:rPr>
              <a:t>, </a:t>
            </a:r>
            <a:r>
              <a:rPr lang="en-US" sz="2500" dirty="0" err="1">
                <a:latin typeface="+mn-lt"/>
                <a:ea typeface="+mn-ea"/>
                <a:cs typeface="+mn-cs"/>
              </a:rPr>
              <a:t>타인의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것은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알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수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없음</a:t>
            </a:r>
            <a:r>
              <a:rPr lang="en-US" sz="2500" dirty="0">
                <a:latin typeface="+mn-lt"/>
                <a:ea typeface="+mn-ea"/>
                <a:cs typeface="+mn-cs"/>
              </a:rPr>
              <a:t>. </a:t>
            </a:r>
          </a:p>
          <a:p>
            <a:pPr lvl="1" indent="-228600" defTabSz="914400">
              <a:lnSpc>
                <a:spcPct val="90000"/>
              </a:lnSpc>
            </a:pPr>
            <a:r>
              <a:rPr lang="en-US" sz="2500" dirty="0" err="1">
                <a:latin typeface="+mn-lt"/>
                <a:ea typeface="+mn-ea"/>
                <a:cs typeface="+mn-cs"/>
              </a:rPr>
              <a:t>단</a:t>
            </a:r>
            <a:r>
              <a:rPr lang="en-US" sz="2500" dirty="0">
                <a:latin typeface="+mn-lt"/>
                <a:ea typeface="+mn-ea"/>
                <a:cs typeface="+mn-cs"/>
              </a:rPr>
              <a:t>,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거시정보</a:t>
            </a:r>
            <a:r>
              <a:rPr lang="en-US" sz="2500" dirty="0">
                <a:latin typeface="+mn-lt"/>
                <a:ea typeface="+mn-ea"/>
                <a:cs typeface="+mn-cs"/>
              </a:rPr>
              <a:t>(</a:t>
            </a:r>
            <a:r>
              <a:rPr lang="en-US" sz="2500" dirty="0" err="1">
                <a:latin typeface="+mn-lt"/>
                <a:ea typeface="+mn-ea"/>
                <a:cs typeface="+mn-cs"/>
              </a:rPr>
              <a:t>총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위험자산투자율</a:t>
            </a:r>
            <a:r>
              <a:rPr lang="ko-KR" alt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altLang="ko-KR" sz="2500" dirty="0">
                <a:latin typeface="+mn-lt"/>
                <a:ea typeface="+mn-ea"/>
                <a:cs typeface="+mn-cs"/>
              </a:rPr>
              <a:t>beta</a:t>
            </a:r>
            <a:r>
              <a:rPr lang="en-US" sz="2500" dirty="0">
                <a:latin typeface="+mn-lt"/>
                <a:ea typeface="+mn-ea"/>
                <a:cs typeface="+mn-cs"/>
              </a:rPr>
              <a:t>)</a:t>
            </a:r>
            <a:r>
              <a:rPr lang="en-US" sz="2500" dirty="0" err="1">
                <a:latin typeface="+mn-lt"/>
                <a:ea typeface="+mn-ea"/>
                <a:cs typeface="+mn-cs"/>
              </a:rPr>
              <a:t>는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정보그룹의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경우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제공</a:t>
            </a:r>
            <a:endParaRPr lang="en-US" sz="25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" grpId="1" build="p" bldLvl="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6" name="Rectangle 545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32274"/>
            <a:ext cx="13004798" cy="622098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391601" y="-3424485"/>
            <a:ext cx="6221592" cy="130048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34853" y="-3181238"/>
            <a:ext cx="6220982" cy="12518911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32270"/>
            <a:ext cx="9111983" cy="6220978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6" name="Freeform: Shape 555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6341793" y="-1467808"/>
            <a:ext cx="5322823" cy="6313430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41" name="투자게임:…"/>
          <p:cNvSpPr txBox="1">
            <a:spLocks noGrp="1"/>
          </p:cNvSpPr>
          <p:nvPr>
            <p:ph type="title"/>
          </p:nvPr>
        </p:nvSpPr>
        <p:spPr>
          <a:xfrm>
            <a:off x="1402478" y="1045484"/>
            <a:ext cx="10724014" cy="41649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tabLst>
                <a:tab pos="1143000" algn="l"/>
              </a:tabLst>
              <a:defRPr sz="7519"/>
            </a:pP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투자게임:</a:t>
            </a:r>
          </a:p>
          <a:p>
            <a:pPr defTabSz="914400">
              <a:tabLst>
                <a:tab pos="1143000" algn="l"/>
              </a:tabLst>
              <a:defRPr sz="7519"/>
            </a:pP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단순 시뮬레이션 모형</a:t>
            </a:r>
          </a:p>
        </p:txBody>
      </p:sp>
    </p:spTree>
    <p:extLst>
      <p:ext uri="{BB962C8B-B14F-4D97-AF65-F5344CB8AC3E}">
        <p14:creationId xmlns:p14="http://schemas.microsoft.com/office/powerpoint/2010/main" val="316477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7" name="Rectangle 5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3004797" cy="22623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656326" cy="2262388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656318" y="-1"/>
            <a:ext cx="4348478" cy="2262388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73" y="-1"/>
            <a:ext cx="12514822" cy="227190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1" name="단순 전략 가정"/>
          <p:cNvSpPr txBox="1">
            <a:spLocks noGrp="1"/>
          </p:cNvSpPr>
          <p:nvPr>
            <p:ph type="title"/>
          </p:nvPr>
        </p:nvSpPr>
        <p:spPr>
          <a:xfrm>
            <a:off x="1463038" y="418898"/>
            <a:ext cx="10555682" cy="1470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단순 전략 가정</a:t>
            </a:r>
          </a:p>
        </p:txBody>
      </p:sp>
      <p:sp>
        <p:nvSpPr>
          <p:cNvPr id="512" name="모든 행위자가 자신이 설정한 일정 비율의 위험자산 포트폴리오만을 구사(CON)…"/>
          <p:cNvSpPr txBox="1">
            <a:spLocks noGrp="1"/>
          </p:cNvSpPr>
          <p:nvPr>
            <p:ph type="body" sz="half" idx="1"/>
          </p:nvPr>
        </p:nvSpPr>
        <p:spPr>
          <a:xfrm>
            <a:off x="1463038" y="3296991"/>
            <a:ext cx="10372300" cy="5238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620490" indent="-228600" defTabSz="914400">
              <a:lnSpc>
                <a:spcPct val="90000"/>
              </a:lnSpc>
              <a:spcBef>
                <a:spcPts val="2500"/>
              </a:spcBef>
              <a:tabLst>
                <a:tab pos="1435100" algn="l"/>
              </a:tabLst>
              <a:defRPr sz="3959"/>
            </a:pPr>
            <a:r>
              <a:rPr lang="en-US" sz="2500" dirty="0" err="1">
                <a:latin typeface="+mn-lt"/>
                <a:ea typeface="+mn-ea"/>
                <a:cs typeface="+mn-cs"/>
              </a:rPr>
              <a:t>모든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행위자가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자신이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설정한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일정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비율의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위험자산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포트폴리오만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beta_i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을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구사</a:t>
            </a:r>
            <a:r>
              <a:rPr lang="en-US" sz="2500" dirty="0">
                <a:latin typeface="+mn-lt"/>
                <a:ea typeface="+mn-ea"/>
                <a:cs typeface="+mn-cs"/>
              </a:rPr>
              <a:t>(CON)</a:t>
            </a:r>
          </a:p>
          <a:p>
            <a:pPr marL="957274" lvl="1" indent="-228600" defTabSz="914400">
              <a:lnSpc>
                <a:spcPct val="90000"/>
              </a:lnSpc>
              <a:spcBef>
                <a:spcPts val="2500"/>
              </a:spcBef>
              <a:tabLst>
                <a:tab pos="1866900" algn="l"/>
              </a:tabLst>
              <a:defRPr sz="3366"/>
            </a:pPr>
            <a:r>
              <a:rPr lang="en-US" sz="2500" dirty="0">
                <a:latin typeface="+mn-lt"/>
                <a:ea typeface="+mn-ea"/>
                <a:cs typeface="+mn-cs"/>
              </a:rPr>
              <a:t>degree 0 strategy</a:t>
            </a:r>
          </a:p>
          <a:p>
            <a:pPr marL="620490" indent="-228600" defTabSz="914400">
              <a:lnSpc>
                <a:spcPct val="90000"/>
              </a:lnSpc>
              <a:spcBef>
                <a:spcPts val="2500"/>
              </a:spcBef>
              <a:tabLst>
                <a:tab pos="1435100" algn="l"/>
              </a:tabLst>
              <a:defRPr sz="3959"/>
            </a:pPr>
            <a:r>
              <a:rPr lang="en-US" sz="2500" dirty="0" err="1">
                <a:latin typeface="+mn-lt"/>
                <a:ea typeface="+mn-ea"/>
                <a:cs typeface="+mn-cs"/>
              </a:rPr>
              <a:t>흉내내기</a:t>
            </a:r>
            <a:r>
              <a:rPr lang="en-US" sz="2500" dirty="0">
                <a:latin typeface="+mn-lt"/>
                <a:ea typeface="+mn-ea"/>
                <a:cs typeface="+mn-cs"/>
              </a:rPr>
              <a:t>,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돌연변이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없음</a:t>
            </a:r>
            <a:endParaRPr lang="en-US" sz="2500" dirty="0">
              <a:latin typeface="+mn-lt"/>
              <a:ea typeface="+mn-ea"/>
              <a:cs typeface="+mn-cs"/>
            </a:endParaRPr>
          </a:p>
          <a:p>
            <a:pPr marL="620490" indent="-228600" defTabSz="914400">
              <a:lnSpc>
                <a:spcPct val="90000"/>
              </a:lnSpc>
              <a:spcBef>
                <a:spcPts val="2500"/>
              </a:spcBef>
              <a:tabLst>
                <a:tab pos="1435100" algn="l"/>
              </a:tabLst>
              <a:defRPr sz="3959"/>
            </a:pPr>
            <a:r>
              <a:rPr lang="en-US" sz="2500" dirty="0" err="1">
                <a:latin typeface="+mn-lt"/>
                <a:ea typeface="+mn-ea"/>
                <a:cs typeface="+mn-cs"/>
              </a:rPr>
              <a:t>수리적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분석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가능</a:t>
            </a:r>
            <a:endParaRPr lang="en-US" sz="2500" dirty="0">
              <a:latin typeface="+mn-lt"/>
              <a:ea typeface="+mn-ea"/>
              <a:cs typeface="+mn-cs"/>
            </a:endParaRPr>
          </a:p>
          <a:p>
            <a:pPr marL="620490" indent="-228600" defTabSz="914400">
              <a:lnSpc>
                <a:spcPct val="90000"/>
              </a:lnSpc>
              <a:spcBef>
                <a:spcPts val="2500"/>
              </a:spcBef>
              <a:tabLst>
                <a:tab pos="1435100" algn="l"/>
              </a:tabLst>
              <a:defRPr sz="3959"/>
            </a:pPr>
            <a:r>
              <a:rPr lang="en-US" sz="2500" dirty="0" err="1">
                <a:latin typeface="+mn-lt"/>
                <a:ea typeface="+mn-ea"/>
                <a:cs typeface="+mn-cs"/>
              </a:rPr>
              <a:t>정보역할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분석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불가능</a:t>
            </a:r>
            <a:endParaRPr lang="en-US" sz="25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" grpId="1" build="p" bldLvl="5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위험자산 비율"/>
          <p:cNvSpPr txBox="1">
            <a:spLocks noGrp="1"/>
          </p:cNvSpPr>
          <p:nvPr>
            <p:ph type="title"/>
          </p:nvPr>
        </p:nvSpPr>
        <p:spPr>
          <a:xfrm>
            <a:off x="1270000" y="422014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위험자산</a:t>
            </a:r>
            <a:r>
              <a:rPr dirty="0"/>
              <a:t> </a:t>
            </a:r>
            <a:r>
              <a:rPr dirty="0" err="1"/>
              <a:t>비율</a:t>
            </a:r>
            <a:endParaRPr dirty="0"/>
          </a:p>
        </p:txBody>
      </p:sp>
      <p:pic>
        <p:nvPicPr>
          <p:cNvPr id="515" name="Screen shot 2011-11-26 at 3.23.12 AM.jpg" descr="Screen shot 2011-11-26 at 3.23.12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0" y="3251200"/>
            <a:ext cx="7772400" cy="5689600"/>
          </a:xfrm>
          <a:prstGeom prst="rect">
            <a:avLst/>
          </a:prstGeom>
          <a:ln w="12700">
            <a:miter lim="400000"/>
          </a:ln>
        </p:spPr>
      </p:pic>
      <p:sp>
        <p:nvSpPr>
          <p:cNvPr id="516" name="복제동학 없이도 개별 수익에 의한 population dynamics 발생→ 내쉬균형 수렴"/>
          <p:cNvSpPr/>
          <p:nvPr/>
        </p:nvSpPr>
        <p:spPr>
          <a:xfrm>
            <a:off x="9129010" y="1790700"/>
            <a:ext cx="3736090" cy="2837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01" y="0"/>
                </a:moveTo>
                <a:cubicBezTo>
                  <a:pt x="3606" y="0"/>
                  <a:pt x="2962" y="866"/>
                  <a:pt x="2962" y="1934"/>
                </a:cubicBezTo>
                <a:lnTo>
                  <a:pt x="2962" y="18403"/>
                </a:lnTo>
                <a:lnTo>
                  <a:pt x="0" y="21600"/>
                </a:lnTo>
                <a:lnTo>
                  <a:pt x="3672" y="20225"/>
                </a:lnTo>
                <a:cubicBezTo>
                  <a:pt x="3887" y="20395"/>
                  <a:pt x="4134" y="20497"/>
                  <a:pt x="4401" y="20497"/>
                </a:cubicBezTo>
                <a:lnTo>
                  <a:pt x="20161" y="20497"/>
                </a:lnTo>
                <a:cubicBezTo>
                  <a:pt x="20956" y="20497"/>
                  <a:pt x="21600" y="19631"/>
                  <a:pt x="21600" y="18563"/>
                </a:cubicBezTo>
                <a:lnTo>
                  <a:pt x="21600" y="1934"/>
                </a:lnTo>
                <a:cubicBezTo>
                  <a:pt x="21600" y="866"/>
                  <a:pt x="20956" y="0"/>
                  <a:pt x="20161" y="0"/>
                </a:cubicBezTo>
                <a:lnTo>
                  <a:pt x="4401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복제동학 없이도 개별 수익에 의한 population dynamics 발생→ 내쉬균형 수렴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" grpId="1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흉내내기 추가"/>
          <p:cNvSpPr txBox="1">
            <a:spLocks noGrp="1"/>
          </p:cNvSpPr>
          <p:nvPr>
            <p:ph type="title"/>
          </p:nvPr>
        </p:nvSpPr>
        <p:spPr>
          <a:xfrm>
            <a:off x="1149350" y="407025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t>흉내내기 추가</a:t>
            </a:r>
          </a:p>
        </p:txBody>
      </p:sp>
      <p:pic>
        <p:nvPicPr>
          <p:cNvPr id="519" name="Screen shot 2011-11-26 at 3.23.55 AM.jpg" descr="Screen shot 2011-11-26 at 3.23.55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3365500"/>
            <a:ext cx="8496300" cy="618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20" name="내쉬균형 근방에서 진폭이줄지  않는 규칙적 진동"/>
          <p:cNvSpPr/>
          <p:nvPr/>
        </p:nvSpPr>
        <p:spPr>
          <a:xfrm>
            <a:off x="520700" y="3492500"/>
            <a:ext cx="2882900" cy="2082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3" y="0"/>
                </a:moveTo>
                <a:cubicBezTo>
                  <a:pt x="852" y="0"/>
                  <a:pt x="0" y="1179"/>
                  <a:pt x="0" y="2634"/>
                </a:cubicBezTo>
                <a:lnTo>
                  <a:pt x="0" y="15541"/>
                </a:lnTo>
                <a:cubicBezTo>
                  <a:pt x="0" y="16996"/>
                  <a:pt x="852" y="18176"/>
                  <a:pt x="1903" y="18176"/>
                </a:cubicBezTo>
                <a:lnTo>
                  <a:pt x="18270" y="18176"/>
                </a:lnTo>
                <a:cubicBezTo>
                  <a:pt x="18316" y="18176"/>
                  <a:pt x="18360" y="18160"/>
                  <a:pt x="18406" y="18155"/>
                </a:cubicBezTo>
                <a:lnTo>
                  <a:pt x="21600" y="21600"/>
                </a:lnTo>
                <a:lnTo>
                  <a:pt x="20057" y="16422"/>
                </a:lnTo>
                <a:cubicBezTo>
                  <a:pt x="20128" y="16146"/>
                  <a:pt x="20173" y="15852"/>
                  <a:pt x="20173" y="15541"/>
                </a:cubicBezTo>
                <a:lnTo>
                  <a:pt x="20173" y="2634"/>
                </a:lnTo>
                <a:cubicBezTo>
                  <a:pt x="20173" y="1179"/>
                  <a:pt x="19321" y="0"/>
                  <a:pt x="18270" y="0"/>
                </a:cubicBezTo>
                <a:lnTo>
                  <a:pt x="190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내쉬균형 근방에서 진폭이줄지  않는 규칙적 진동</a:t>
            </a:r>
          </a:p>
        </p:txBody>
      </p:sp>
      <p:sp>
        <p:nvSpPr>
          <p:cNvPr id="521" name="내쉬균형 근방에서 진동+진폭이 0으로 수렴"/>
          <p:cNvSpPr/>
          <p:nvPr/>
        </p:nvSpPr>
        <p:spPr>
          <a:xfrm>
            <a:off x="9842500" y="3492500"/>
            <a:ext cx="2844800" cy="2476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86" y="0"/>
                </a:moveTo>
                <a:cubicBezTo>
                  <a:pt x="2021" y="0"/>
                  <a:pt x="1157" y="992"/>
                  <a:pt x="1157" y="2215"/>
                </a:cubicBezTo>
                <a:lnTo>
                  <a:pt x="1157" y="12738"/>
                </a:lnTo>
                <a:cubicBezTo>
                  <a:pt x="1157" y="13233"/>
                  <a:pt x="1302" y="13685"/>
                  <a:pt x="1540" y="14054"/>
                </a:cubicBezTo>
                <a:lnTo>
                  <a:pt x="0" y="21600"/>
                </a:lnTo>
                <a:lnTo>
                  <a:pt x="3396" y="14954"/>
                </a:lnTo>
                <a:lnTo>
                  <a:pt x="19671" y="14954"/>
                </a:lnTo>
                <a:cubicBezTo>
                  <a:pt x="20737" y="14954"/>
                  <a:pt x="21600" y="13962"/>
                  <a:pt x="21600" y="12738"/>
                </a:cubicBezTo>
                <a:lnTo>
                  <a:pt x="21600" y="2215"/>
                </a:lnTo>
                <a:cubicBezTo>
                  <a:pt x="21600" y="992"/>
                  <a:pt x="20737" y="0"/>
                  <a:pt x="19671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내쉬균형 근방에서 진동+진폭이 0으로 수렴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0" grpId="1" animBg="1" advAuto="0"/>
      <p:bldP spid="521" grpId="2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Screen shot 2011-11-26 at 3.25.25 AM.jpg" descr="Screen shot 2011-11-26 at 3.25.25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715" y="3022600"/>
            <a:ext cx="8462785" cy="6096001"/>
          </a:xfrm>
          <a:prstGeom prst="rect">
            <a:avLst/>
          </a:prstGeom>
          <a:ln w="12700">
            <a:miter lim="400000"/>
          </a:ln>
        </p:spPr>
      </p:pic>
      <p:sp>
        <p:nvSpPr>
          <p:cNvPr id="524" name="흉내내기와 전략집합:…"/>
          <p:cNvSpPr txBox="1">
            <a:spLocks noGrp="1"/>
          </p:cNvSpPr>
          <p:nvPr>
            <p:ph type="title"/>
          </p:nvPr>
        </p:nvSpPr>
        <p:spPr>
          <a:xfrm>
            <a:off x="1267707" y="127000"/>
            <a:ext cx="10464800" cy="2476500"/>
          </a:xfrm>
          <a:prstGeom prst="rect">
            <a:avLst/>
          </a:prstGeom>
        </p:spPr>
        <p:txBody>
          <a:bodyPr/>
          <a:lstStyle/>
          <a:p>
            <a:pPr defTabSz="549148">
              <a:lnSpc>
                <a:spcPts val="9000"/>
              </a:lnSpc>
              <a:spcBef>
                <a:spcPts val="200"/>
              </a:spcBef>
              <a:tabLst>
                <a:tab pos="1143000" algn="l"/>
              </a:tabLst>
              <a:defRPr sz="7519"/>
            </a:pPr>
            <a:r>
              <a:rPr dirty="0" err="1"/>
              <a:t>흉내내기와</a:t>
            </a:r>
            <a:r>
              <a:rPr dirty="0"/>
              <a:t> </a:t>
            </a:r>
            <a:r>
              <a:rPr dirty="0" err="1"/>
              <a:t>전략집합</a:t>
            </a:r>
            <a:r>
              <a:rPr dirty="0"/>
              <a:t>:</a:t>
            </a:r>
          </a:p>
          <a:p>
            <a:pPr defTabSz="549148">
              <a:lnSpc>
                <a:spcPts val="9000"/>
              </a:lnSpc>
              <a:spcBef>
                <a:spcPts val="200"/>
              </a:spcBef>
              <a:tabLst>
                <a:tab pos="1143000" algn="l"/>
              </a:tabLst>
              <a:defRPr sz="7519"/>
            </a:pPr>
            <a:r>
              <a:rPr dirty="0" err="1"/>
              <a:t>마지막</a:t>
            </a:r>
            <a:r>
              <a:rPr dirty="0"/>
              <a:t> </a:t>
            </a:r>
            <a:r>
              <a:rPr dirty="0" err="1"/>
              <a:t>기의</a:t>
            </a:r>
            <a:r>
              <a:rPr dirty="0"/>
              <a:t> </a:t>
            </a:r>
            <a:r>
              <a:rPr dirty="0" err="1"/>
              <a:t>전략분포</a:t>
            </a:r>
            <a:endParaRPr dirty="0"/>
          </a:p>
        </p:txBody>
      </p:sp>
      <p:pic>
        <p:nvPicPr>
          <p:cNvPr id="525" name="Screen shot 2011-11-26 at 3.23.55 AM.jpg" descr="Screen shot 2011-11-26 at 3.23.55 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3022600"/>
            <a:ext cx="8496300" cy="6184900"/>
          </a:xfrm>
          <a:prstGeom prst="rect">
            <a:avLst/>
          </a:prstGeom>
          <a:ln w="12700">
            <a:miter lim="400000"/>
          </a:ln>
        </p:spPr>
      </p:pic>
      <p:sp>
        <p:nvSpPr>
          <p:cNvPr id="526" name="양 끝 전략(2), 혹은 마지막 전략(1)으로 수렴"/>
          <p:cNvSpPr/>
          <p:nvPr/>
        </p:nvSpPr>
        <p:spPr>
          <a:xfrm>
            <a:off x="114300" y="3403600"/>
            <a:ext cx="2882900" cy="2082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03" y="0"/>
                </a:moveTo>
                <a:cubicBezTo>
                  <a:pt x="852" y="0"/>
                  <a:pt x="0" y="1179"/>
                  <a:pt x="0" y="2634"/>
                </a:cubicBezTo>
                <a:lnTo>
                  <a:pt x="0" y="15541"/>
                </a:lnTo>
                <a:cubicBezTo>
                  <a:pt x="0" y="16996"/>
                  <a:pt x="852" y="18176"/>
                  <a:pt x="1903" y="18176"/>
                </a:cubicBezTo>
                <a:lnTo>
                  <a:pt x="18270" y="18176"/>
                </a:lnTo>
                <a:cubicBezTo>
                  <a:pt x="18316" y="18176"/>
                  <a:pt x="18360" y="18160"/>
                  <a:pt x="18406" y="18155"/>
                </a:cubicBezTo>
                <a:lnTo>
                  <a:pt x="21600" y="21600"/>
                </a:lnTo>
                <a:lnTo>
                  <a:pt x="20057" y="16422"/>
                </a:lnTo>
                <a:cubicBezTo>
                  <a:pt x="20128" y="16146"/>
                  <a:pt x="20173" y="15852"/>
                  <a:pt x="20173" y="15541"/>
                </a:cubicBezTo>
                <a:lnTo>
                  <a:pt x="20173" y="2634"/>
                </a:lnTo>
                <a:cubicBezTo>
                  <a:pt x="20173" y="1179"/>
                  <a:pt x="19321" y="0"/>
                  <a:pt x="18270" y="0"/>
                </a:cubicBezTo>
                <a:lnTo>
                  <a:pt x="190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양 끝 전략(2), 혹은 마지막 전략(1)으로 수렴</a:t>
            </a:r>
          </a:p>
        </p:txBody>
      </p:sp>
      <p:sp>
        <p:nvSpPr>
          <p:cNvPr id="527" name="내쉬균형 근방의 전략으로 수렴"/>
          <p:cNvSpPr/>
          <p:nvPr/>
        </p:nvSpPr>
        <p:spPr>
          <a:xfrm>
            <a:off x="9436100" y="3403600"/>
            <a:ext cx="2844800" cy="2476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086" y="0"/>
                </a:moveTo>
                <a:cubicBezTo>
                  <a:pt x="2021" y="0"/>
                  <a:pt x="1157" y="992"/>
                  <a:pt x="1157" y="2215"/>
                </a:cubicBezTo>
                <a:lnTo>
                  <a:pt x="1157" y="12738"/>
                </a:lnTo>
                <a:cubicBezTo>
                  <a:pt x="1157" y="13233"/>
                  <a:pt x="1302" y="13685"/>
                  <a:pt x="1540" y="14054"/>
                </a:cubicBezTo>
                <a:lnTo>
                  <a:pt x="0" y="21600"/>
                </a:lnTo>
                <a:lnTo>
                  <a:pt x="3396" y="14954"/>
                </a:lnTo>
                <a:lnTo>
                  <a:pt x="19671" y="14954"/>
                </a:lnTo>
                <a:cubicBezTo>
                  <a:pt x="20737" y="14954"/>
                  <a:pt x="21600" y="13962"/>
                  <a:pt x="21600" y="12738"/>
                </a:cubicBezTo>
                <a:lnTo>
                  <a:pt x="21600" y="2215"/>
                </a:lnTo>
                <a:cubicBezTo>
                  <a:pt x="21600" y="992"/>
                  <a:pt x="20737" y="0"/>
                  <a:pt x="19671" y="0"/>
                </a:cubicBezTo>
                <a:lnTo>
                  <a:pt x="3086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내쉬균형 근방의 전략으로 수렴</a:t>
            </a:r>
          </a:p>
        </p:txBody>
      </p:sp>
      <p:sp>
        <p:nvSpPr>
          <p:cNvPr id="528" name="흉내내기는 전략집합의 수를 줄이는 역할…"/>
          <p:cNvSpPr/>
          <p:nvPr/>
        </p:nvSpPr>
        <p:spPr>
          <a:xfrm>
            <a:off x="254000" y="7035800"/>
            <a:ext cx="3644900" cy="2082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05" y="0"/>
                </a:moveTo>
                <a:cubicBezTo>
                  <a:pt x="674" y="0"/>
                  <a:pt x="0" y="1179"/>
                  <a:pt x="0" y="2634"/>
                </a:cubicBezTo>
                <a:lnTo>
                  <a:pt x="0" y="18966"/>
                </a:lnTo>
                <a:cubicBezTo>
                  <a:pt x="0" y="20421"/>
                  <a:pt x="674" y="21600"/>
                  <a:pt x="1505" y="21600"/>
                </a:cubicBezTo>
                <a:lnTo>
                  <a:pt x="18063" y="21600"/>
                </a:lnTo>
                <a:cubicBezTo>
                  <a:pt x="18894" y="21600"/>
                  <a:pt x="19568" y="20421"/>
                  <a:pt x="19568" y="18966"/>
                </a:cubicBezTo>
                <a:lnTo>
                  <a:pt x="19568" y="3815"/>
                </a:lnTo>
                <a:lnTo>
                  <a:pt x="21600" y="2239"/>
                </a:lnTo>
                <a:lnTo>
                  <a:pt x="19241" y="1008"/>
                </a:lnTo>
                <a:cubicBezTo>
                  <a:pt x="18965" y="398"/>
                  <a:pt x="18542" y="0"/>
                  <a:pt x="18063" y="0"/>
                </a:cubicBezTo>
                <a:lnTo>
                  <a:pt x="1505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흉내내기는 전략집합의 수를 줄이는 역할</a:t>
            </a:r>
          </a:p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전략의 Clustering</a:t>
            </a:r>
          </a:p>
        </p:txBody>
      </p:sp>
      <p:sp>
        <p:nvSpPr>
          <p:cNvPr id="529" name="성공적 전략의 부의 비중이 population dynamics의 역할 수행"/>
          <p:cNvSpPr/>
          <p:nvPr/>
        </p:nvSpPr>
        <p:spPr>
          <a:xfrm>
            <a:off x="8356600" y="5905500"/>
            <a:ext cx="3797300" cy="2882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53" y="7672"/>
                </a:lnTo>
                <a:cubicBezTo>
                  <a:pt x="721" y="8009"/>
                  <a:pt x="578" y="8454"/>
                  <a:pt x="578" y="8944"/>
                </a:cubicBezTo>
                <a:lnTo>
                  <a:pt x="578" y="19697"/>
                </a:lnTo>
                <a:cubicBezTo>
                  <a:pt x="578" y="20748"/>
                  <a:pt x="1225" y="21600"/>
                  <a:pt x="2023" y="21600"/>
                </a:cubicBezTo>
                <a:lnTo>
                  <a:pt x="20155" y="21600"/>
                </a:lnTo>
                <a:cubicBezTo>
                  <a:pt x="20953" y="21600"/>
                  <a:pt x="21600" y="20748"/>
                  <a:pt x="21600" y="19697"/>
                </a:cubicBezTo>
                <a:lnTo>
                  <a:pt x="21600" y="8944"/>
                </a:lnTo>
                <a:cubicBezTo>
                  <a:pt x="21600" y="7893"/>
                  <a:pt x="20953" y="7041"/>
                  <a:pt x="20155" y="7041"/>
                </a:cubicBezTo>
                <a:lnTo>
                  <a:pt x="2368" y="7041"/>
                </a:ln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성공적 전략의 부의 비중이 population dynamics의 역할 수행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" grpId="3" animBg="1" advAuto="0"/>
      <p:bldP spid="526" grpId="1" animBg="1" advAuto="0"/>
      <p:bldP spid="527" grpId="2" animBg="1" advAuto="0"/>
      <p:bldP spid="528" grpId="4" animBg="1" advAuto="0"/>
      <p:bldP spid="529" grpId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돌연변이 추가"/>
          <p:cNvSpPr txBox="1">
            <a:spLocks noGrp="1"/>
          </p:cNvSpPr>
          <p:nvPr>
            <p:ph type="title"/>
          </p:nvPr>
        </p:nvSpPr>
        <p:spPr>
          <a:xfrm>
            <a:off x="1000177" y="275894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t>돌연변이 추가</a:t>
            </a:r>
          </a:p>
        </p:txBody>
      </p:sp>
      <p:pic>
        <p:nvPicPr>
          <p:cNvPr id="532" name="Screen shot 2011-11-26 at 3.32.19 AM.jpg" descr="Screen shot 2011-11-26 at 3.32.19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2752394"/>
            <a:ext cx="9207500" cy="6683706"/>
          </a:xfrm>
          <a:prstGeom prst="rect">
            <a:avLst/>
          </a:prstGeom>
          <a:ln w="12700">
            <a:miter lim="400000"/>
          </a:ln>
        </p:spPr>
      </p:pic>
      <p:sp>
        <p:nvSpPr>
          <p:cNvPr id="533" name="내쉬균형 근방에서 진폭이줄지  않는 불규칙적 진동"/>
          <p:cNvSpPr/>
          <p:nvPr/>
        </p:nvSpPr>
        <p:spPr>
          <a:xfrm>
            <a:off x="3416300" y="4114800"/>
            <a:ext cx="3086100" cy="3022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22" y="0"/>
                </a:moveTo>
                <a:lnTo>
                  <a:pt x="6933" y="9076"/>
                </a:lnTo>
                <a:lnTo>
                  <a:pt x="1778" y="9076"/>
                </a:lnTo>
                <a:cubicBezTo>
                  <a:pt x="796" y="9076"/>
                  <a:pt x="0" y="9888"/>
                  <a:pt x="0" y="10891"/>
                </a:cubicBezTo>
                <a:lnTo>
                  <a:pt x="0" y="19785"/>
                </a:lnTo>
                <a:cubicBezTo>
                  <a:pt x="0" y="20787"/>
                  <a:pt x="796" y="21600"/>
                  <a:pt x="1778" y="21600"/>
                </a:cubicBezTo>
                <a:lnTo>
                  <a:pt x="19822" y="21600"/>
                </a:lnTo>
                <a:cubicBezTo>
                  <a:pt x="20804" y="21600"/>
                  <a:pt x="21600" y="20787"/>
                  <a:pt x="21600" y="19785"/>
                </a:cubicBezTo>
                <a:lnTo>
                  <a:pt x="21600" y="10891"/>
                </a:lnTo>
                <a:cubicBezTo>
                  <a:pt x="21600" y="9888"/>
                  <a:pt x="20804" y="9076"/>
                  <a:pt x="19822" y="9076"/>
                </a:cubicBezTo>
                <a:lnTo>
                  <a:pt x="8711" y="9076"/>
                </a:lnTo>
                <a:lnTo>
                  <a:pt x="7822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내쉬균형 근방에서 진폭이줄지  않는 불규칙적 진동</a:t>
            </a:r>
          </a:p>
        </p:txBody>
      </p:sp>
      <p:sp>
        <p:nvSpPr>
          <p:cNvPr id="534" name="내쉬균형 근방에서 진동+진폭이 어느 정도까지는 작아지는 경향"/>
          <p:cNvSpPr/>
          <p:nvPr/>
        </p:nvSpPr>
        <p:spPr>
          <a:xfrm>
            <a:off x="8509000" y="3848100"/>
            <a:ext cx="3086100" cy="3403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800" y="0"/>
                </a:moveTo>
                <a:lnTo>
                  <a:pt x="3911" y="7737"/>
                </a:lnTo>
                <a:lnTo>
                  <a:pt x="1778" y="7737"/>
                </a:lnTo>
                <a:cubicBezTo>
                  <a:pt x="796" y="7737"/>
                  <a:pt x="0" y="8459"/>
                  <a:pt x="0" y="9349"/>
                </a:cubicBezTo>
                <a:lnTo>
                  <a:pt x="0" y="19988"/>
                </a:lnTo>
                <a:cubicBezTo>
                  <a:pt x="0" y="20878"/>
                  <a:pt x="796" y="21600"/>
                  <a:pt x="1778" y="21600"/>
                </a:cubicBezTo>
                <a:lnTo>
                  <a:pt x="19822" y="21600"/>
                </a:lnTo>
                <a:cubicBezTo>
                  <a:pt x="20804" y="21600"/>
                  <a:pt x="21600" y="20878"/>
                  <a:pt x="21600" y="19988"/>
                </a:cubicBezTo>
                <a:lnTo>
                  <a:pt x="21600" y="9349"/>
                </a:lnTo>
                <a:cubicBezTo>
                  <a:pt x="21600" y="8459"/>
                  <a:pt x="20804" y="7737"/>
                  <a:pt x="19822" y="7737"/>
                </a:cubicBezTo>
                <a:lnTo>
                  <a:pt x="5689" y="7737"/>
                </a:lnTo>
                <a:lnTo>
                  <a:pt x="4800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내쉬균형 근방에서 진동+진폭이 어느 정도까지는 작아지는 경향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" grpId="1" animBg="1" advAuto="0"/>
      <p:bldP spid="534" grpId="2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돌연변이 과정"/>
          <p:cNvSpPr txBox="1">
            <a:spLocks noGrp="1"/>
          </p:cNvSpPr>
          <p:nvPr>
            <p:ph type="title"/>
          </p:nvPr>
        </p:nvSpPr>
        <p:spPr>
          <a:xfrm>
            <a:off x="1270000" y="20320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돌연변이</a:t>
            </a:r>
            <a:r>
              <a:rPr dirty="0"/>
              <a:t> </a:t>
            </a:r>
            <a:r>
              <a:rPr dirty="0" err="1"/>
              <a:t>과정</a:t>
            </a:r>
            <a:endParaRPr dirty="0"/>
          </a:p>
        </p:txBody>
      </p:sp>
      <p:pic>
        <p:nvPicPr>
          <p:cNvPr id="537" name="Screen shot 2011-11-26 at 3.33.49 AM.jpg" descr="Screen shot 2011-11-26 at 3.33.49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389" y="3251200"/>
            <a:ext cx="8702411" cy="6299200"/>
          </a:xfrm>
          <a:prstGeom prst="rect">
            <a:avLst/>
          </a:prstGeom>
          <a:ln w="12700">
            <a:miter lim="400000"/>
          </a:ln>
        </p:spPr>
      </p:pic>
      <p:sp>
        <p:nvSpPr>
          <p:cNvPr id="538" name="흉내내기는 전략집합의 수를 늘리는 역할"/>
          <p:cNvSpPr/>
          <p:nvPr/>
        </p:nvSpPr>
        <p:spPr>
          <a:xfrm>
            <a:off x="5283200" y="3860800"/>
            <a:ext cx="3009900" cy="1955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8068" y="2398"/>
                </a:lnTo>
                <a:cubicBezTo>
                  <a:pt x="17888" y="2306"/>
                  <a:pt x="17699" y="2244"/>
                  <a:pt x="17499" y="2244"/>
                </a:cubicBezTo>
                <a:lnTo>
                  <a:pt x="1823" y="2244"/>
                </a:lnTo>
                <a:cubicBezTo>
                  <a:pt x="816" y="2244"/>
                  <a:pt x="0" y="3500"/>
                  <a:pt x="0" y="5049"/>
                </a:cubicBezTo>
                <a:lnTo>
                  <a:pt x="0" y="18795"/>
                </a:lnTo>
                <a:cubicBezTo>
                  <a:pt x="0" y="20344"/>
                  <a:pt x="816" y="21600"/>
                  <a:pt x="1823" y="21600"/>
                </a:cubicBezTo>
                <a:lnTo>
                  <a:pt x="17499" y="21600"/>
                </a:lnTo>
                <a:cubicBezTo>
                  <a:pt x="18505" y="21600"/>
                  <a:pt x="19322" y="20344"/>
                  <a:pt x="19322" y="18795"/>
                </a:cubicBezTo>
                <a:lnTo>
                  <a:pt x="19322" y="5049"/>
                </a:lnTo>
                <a:cubicBezTo>
                  <a:pt x="19322" y="4958"/>
                  <a:pt x="19310" y="4871"/>
                  <a:pt x="19304" y="4782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흉내내기는 전략집합의 수를 늘리는 역할</a:t>
            </a:r>
          </a:p>
        </p:txBody>
      </p:sp>
      <p:sp>
        <p:nvSpPr>
          <p:cNvPr id="539" name="진화적 안정 전략(ESS) 테스트를 위한 필수요소"/>
          <p:cNvSpPr/>
          <p:nvPr/>
        </p:nvSpPr>
        <p:spPr>
          <a:xfrm>
            <a:off x="5283200" y="3822700"/>
            <a:ext cx="3416300" cy="4902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6915" y="13766"/>
                </a:lnTo>
                <a:lnTo>
                  <a:pt x="1606" y="13766"/>
                </a:lnTo>
                <a:cubicBezTo>
                  <a:pt x="719" y="13766"/>
                  <a:pt x="0" y="14267"/>
                  <a:pt x="0" y="14885"/>
                </a:cubicBezTo>
                <a:lnTo>
                  <a:pt x="0" y="20481"/>
                </a:lnTo>
                <a:cubicBezTo>
                  <a:pt x="0" y="21099"/>
                  <a:pt x="719" y="21600"/>
                  <a:pt x="1606" y="21600"/>
                </a:cubicBezTo>
                <a:lnTo>
                  <a:pt x="17425" y="21600"/>
                </a:lnTo>
                <a:cubicBezTo>
                  <a:pt x="18311" y="21600"/>
                  <a:pt x="19030" y="21099"/>
                  <a:pt x="19030" y="20481"/>
                </a:cubicBezTo>
                <a:lnTo>
                  <a:pt x="19030" y="14885"/>
                </a:lnTo>
                <a:cubicBezTo>
                  <a:pt x="19030" y="14552"/>
                  <a:pt x="18819" y="14256"/>
                  <a:pt x="18488" y="14051"/>
                </a:cubicBezTo>
                <a:lnTo>
                  <a:pt x="21600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dirty="0" err="1"/>
              <a:t>진화적</a:t>
            </a:r>
            <a:r>
              <a:rPr dirty="0"/>
              <a:t> </a:t>
            </a:r>
            <a:r>
              <a:rPr dirty="0" err="1"/>
              <a:t>안정</a:t>
            </a:r>
            <a:r>
              <a:rPr dirty="0"/>
              <a:t> </a:t>
            </a:r>
            <a:r>
              <a:rPr dirty="0" err="1"/>
              <a:t>전략</a:t>
            </a:r>
            <a:r>
              <a:rPr dirty="0"/>
              <a:t>(ESS) </a:t>
            </a:r>
            <a:r>
              <a:rPr dirty="0" err="1"/>
              <a:t>테스트를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</a:t>
            </a:r>
            <a:r>
              <a:rPr dirty="0" err="1"/>
              <a:t>필수요소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" grpId="1" animBg="1" advAuto="0"/>
      <p:bldP spid="539" grpId="2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투자게임:…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549148">
              <a:lnSpc>
                <a:spcPts val="9000"/>
              </a:lnSpc>
              <a:spcBef>
                <a:spcPts val="200"/>
              </a:spcBef>
              <a:tabLst>
                <a:tab pos="1143000" algn="l"/>
              </a:tabLst>
              <a:defRPr sz="7519"/>
            </a:pPr>
            <a:r>
              <a:t>투자게임:</a:t>
            </a:r>
          </a:p>
          <a:p>
            <a:pPr defTabSz="549148">
              <a:lnSpc>
                <a:spcPts val="9000"/>
              </a:lnSpc>
              <a:spcBef>
                <a:spcPts val="200"/>
              </a:spcBef>
              <a:tabLst>
                <a:tab pos="1143000" algn="l"/>
              </a:tabLst>
              <a:defRPr sz="7519"/>
            </a:pPr>
            <a:r>
              <a:t>복합 시뮬레이션 모형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9" name="Rectangle 54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3004797" cy="22623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656326" cy="2262388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656318" y="-1"/>
            <a:ext cx="4348478" cy="2262388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73" y="-1"/>
            <a:ext cx="12514822" cy="227190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3" name="복합 전략 가정"/>
          <p:cNvSpPr txBox="1">
            <a:spLocks noGrp="1"/>
          </p:cNvSpPr>
          <p:nvPr>
            <p:ph type="title"/>
          </p:nvPr>
        </p:nvSpPr>
        <p:spPr>
          <a:xfrm>
            <a:off x="1463038" y="418898"/>
            <a:ext cx="10555682" cy="1470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복합 전략 가정</a:t>
            </a:r>
          </a:p>
        </p:txBody>
      </p:sp>
      <p:sp>
        <p:nvSpPr>
          <p:cNvPr id="544" name="총 11가지 전략을 구성…"/>
          <p:cNvSpPr txBox="1">
            <a:spLocks noGrp="1"/>
          </p:cNvSpPr>
          <p:nvPr>
            <p:ph type="body" sz="half" idx="1"/>
          </p:nvPr>
        </p:nvSpPr>
        <p:spPr>
          <a:xfrm>
            <a:off x="1463038" y="3296991"/>
            <a:ext cx="10372300" cy="5238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32744" indent="-228600" defTabSz="914400">
              <a:lnSpc>
                <a:spcPct val="90000"/>
              </a:lnSpc>
              <a:spcBef>
                <a:spcPts val="2200"/>
              </a:spcBef>
              <a:tabLst>
                <a:tab pos="1231900" algn="l"/>
              </a:tabLst>
              <a:defRPr sz="3400"/>
            </a:pPr>
            <a:r>
              <a:rPr lang="en-US" sz="2500" dirty="0" err="1">
                <a:latin typeface="+mn-lt"/>
                <a:ea typeface="+mn-ea"/>
                <a:cs typeface="+mn-cs"/>
              </a:rPr>
              <a:t>총</a:t>
            </a:r>
            <a:r>
              <a:rPr lang="en-US" sz="2500" dirty="0">
                <a:latin typeface="+mn-lt"/>
                <a:ea typeface="+mn-ea"/>
                <a:cs typeface="+mn-cs"/>
              </a:rPr>
              <a:t> 11가지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전략을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구성</a:t>
            </a:r>
            <a:endParaRPr lang="en-US" sz="2500" dirty="0">
              <a:latin typeface="+mn-lt"/>
              <a:ea typeface="+mn-ea"/>
              <a:cs typeface="+mn-cs"/>
            </a:endParaRPr>
          </a:p>
          <a:p>
            <a:pPr marL="821902" lvl="1" indent="-228600" defTabSz="914400">
              <a:lnSpc>
                <a:spcPct val="90000"/>
              </a:lnSpc>
              <a:spcBef>
                <a:spcPts val="2200"/>
              </a:spcBef>
              <a:tabLst>
                <a:tab pos="1600200" algn="l"/>
              </a:tabLst>
              <a:defRPr sz="2890"/>
            </a:pPr>
            <a:r>
              <a:rPr lang="en-US" sz="2500" dirty="0" err="1">
                <a:latin typeface="+mn-lt"/>
                <a:ea typeface="+mn-ea"/>
                <a:cs typeface="+mn-cs"/>
              </a:rPr>
              <a:t>다음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기의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위험판단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전략</a:t>
            </a:r>
            <a:endParaRPr lang="en-US" sz="2500" dirty="0">
              <a:latin typeface="+mn-lt"/>
              <a:ea typeface="+mn-ea"/>
              <a:cs typeface="+mn-cs"/>
            </a:endParaRPr>
          </a:p>
          <a:p>
            <a:pPr marL="1100265" lvl="2" indent="-228600" defTabSz="914400">
              <a:lnSpc>
                <a:spcPct val="90000"/>
              </a:lnSpc>
              <a:spcBef>
                <a:spcPts val="2200"/>
              </a:spcBef>
              <a:tabLst>
                <a:tab pos="1955800" algn="l"/>
              </a:tabLst>
              <a:defRPr sz="2720"/>
            </a:pPr>
            <a:r>
              <a:rPr lang="en-US" sz="2500" dirty="0">
                <a:latin typeface="+mn-lt"/>
                <a:ea typeface="+mn-ea"/>
                <a:cs typeface="+mn-cs"/>
              </a:rPr>
              <a:t>INFO, INFOTS,  CHARTINFO, MARKOV, CHART (</a:t>
            </a:r>
            <a:r>
              <a:rPr lang="en-US" sz="2500" dirty="0" err="1">
                <a:latin typeface="+mn-lt"/>
                <a:ea typeface="+mn-ea"/>
                <a:cs typeface="+mn-cs"/>
              </a:rPr>
              <a:t>총</a:t>
            </a:r>
            <a:r>
              <a:rPr lang="en-US" sz="2500" dirty="0">
                <a:latin typeface="+mn-lt"/>
                <a:ea typeface="+mn-ea"/>
                <a:cs typeface="+mn-cs"/>
              </a:rPr>
              <a:t> 5)</a:t>
            </a:r>
          </a:p>
          <a:p>
            <a:pPr marL="821902" lvl="1" indent="-228600" defTabSz="914400">
              <a:lnSpc>
                <a:spcPct val="90000"/>
              </a:lnSpc>
              <a:spcBef>
                <a:spcPts val="2200"/>
              </a:spcBef>
              <a:tabLst>
                <a:tab pos="1600200" algn="l"/>
              </a:tabLst>
              <a:defRPr sz="2890"/>
            </a:pPr>
            <a:r>
              <a:rPr lang="en-US" sz="2500" dirty="0">
                <a:latin typeface="+mn-lt"/>
                <a:ea typeface="+mn-ea"/>
                <a:cs typeface="+mn-cs"/>
              </a:rPr>
              <a:t>CON: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수준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유지</a:t>
            </a:r>
            <a:r>
              <a:rPr lang="en-US" sz="2500" dirty="0">
                <a:latin typeface="+mn-lt"/>
                <a:ea typeface="+mn-ea"/>
                <a:cs typeface="+mn-cs"/>
              </a:rPr>
              <a:t>/</a:t>
            </a:r>
            <a:r>
              <a:rPr lang="en-US" sz="2500" dirty="0" err="1">
                <a:latin typeface="+mn-lt"/>
                <a:ea typeface="+mn-ea"/>
                <a:cs typeface="+mn-cs"/>
              </a:rPr>
              <a:t>조정</a:t>
            </a:r>
            <a:r>
              <a:rPr lang="en-US" sz="2500" dirty="0">
                <a:latin typeface="+mn-lt"/>
                <a:ea typeface="+mn-ea"/>
                <a:cs typeface="+mn-cs"/>
              </a:rPr>
              <a:t> -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위험판단방식에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따라</a:t>
            </a:r>
            <a:r>
              <a:rPr lang="en-US" sz="2500" dirty="0">
                <a:latin typeface="+mn-lt"/>
                <a:ea typeface="+mn-ea"/>
                <a:cs typeface="+mn-cs"/>
              </a:rPr>
              <a:t> CON, CONINFO, CONINFOTS… (</a:t>
            </a:r>
            <a:r>
              <a:rPr lang="en-US" sz="2500" dirty="0" err="1">
                <a:latin typeface="+mn-lt"/>
                <a:ea typeface="+mn-ea"/>
                <a:cs typeface="+mn-cs"/>
              </a:rPr>
              <a:t>총</a:t>
            </a:r>
            <a:r>
              <a:rPr lang="en-US" sz="2500" dirty="0">
                <a:latin typeface="+mn-lt"/>
                <a:ea typeface="+mn-ea"/>
                <a:cs typeface="+mn-cs"/>
              </a:rPr>
              <a:t> 6가지) </a:t>
            </a:r>
          </a:p>
          <a:p>
            <a:pPr marL="821902" lvl="1" indent="-228600" defTabSz="914400">
              <a:lnSpc>
                <a:spcPct val="90000"/>
              </a:lnSpc>
              <a:spcBef>
                <a:spcPts val="2200"/>
              </a:spcBef>
              <a:tabLst>
                <a:tab pos="1600200" algn="l"/>
              </a:tabLst>
              <a:defRPr sz="2890"/>
            </a:pPr>
            <a:r>
              <a:rPr lang="en-US" sz="2500" dirty="0">
                <a:latin typeface="+mn-lt"/>
                <a:ea typeface="+mn-ea"/>
                <a:cs typeface="+mn-cs"/>
              </a:rPr>
              <a:t>FLIP: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위험</a:t>
            </a:r>
            <a:r>
              <a:rPr lang="en-US" sz="2500" dirty="0">
                <a:latin typeface="+mn-lt"/>
                <a:ea typeface="+mn-ea"/>
                <a:cs typeface="+mn-cs"/>
              </a:rPr>
              <a:t>(h),</a:t>
            </a:r>
            <a:r>
              <a:rPr lang="en-US" sz="2500" dirty="0" err="1">
                <a:latin typeface="+mn-lt"/>
                <a:ea typeface="+mn-ea"/>
                <a:cs typeface="+mn-cs"/>
              </a:rPr>
              <a:t>안전</a:t>
            </a:r>
            <a:r>
              <a:rPr lang="en-US" sz="2500" dirty="0">
                <a:latin typeface="+mn-lt"/>
                <a:ea typeface="+mn-ea"/>
                <a:cs typeface="+mn-cs"/>
              </a:rPr>
              <a:t>(l) </a:t>
            </a:r>
            <a:r>
              <a:rPr lang="en-US" sz="2500" dirty="0" err="1">
                <a:latin typeface="+mn-lt"/>
                <a:ea typeface="+mn-ea"/>
                <a:cs typeface="+mn-cs"/>
              </a:rPr>
              <a:t>포트폴리오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중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선택</a:t>
            </a:r>
            <a:r>
              <a:rPr lang="en-US" sz="2500" dirty="0">
                <a:latin typeface="+mn-lt"/>
                <a:ea typeface="+mn-ea"/>
                <a:cs typeface="+mn-cs"/>
              </a:rPr>
              <a:t> -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위험판단방식에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따라</a:t>
            </a:r>
            <a:r>
              <a:rPr lang="en-US" sz="2500" dirty="0">
                <a:latin typeface="+mn-lt"/>
                <a:ea typeface="+mn-ea"/>
                <a:cs typeface="+mn-cs"/>
              </a:rPr>
              <a:t> FLIPINFO, FLIPINFOTS… (</a:t>
            </a:r>
            <a:r>
              <a:rPr lang="en-US" sz="2500" dirty="0" err="1">
                <a:latin typeface="+mn-lt"/>
                <a:ea typeface="+mn-ea"/>
                <a:cs typeface="+mn-cs"/>
              </a:rPr>
              <a:t>총</a:t>
            </a:r>
            <a:r>
              <a:rPr lang="en-US" sz="2500" dirty="0">
                <a:latin typeface="+mn-lt"/>
                <a:ea typeface="+mn-ea"/>
                <a:cs typeface="+mn-cs"/>
              </a:rPr>
              <a:t> 5가지)</a:t>
            </a:r>
          </a:p>
          <a:p>
            <a:pPr marL="821902" lvl="1" indent="-228600" defTabSz="914400">
              <a:lnSpc>
                <a:spcPct val="90000"/>
              </a:lnSpc>
              <a:spcBef>
                <a:spcPts val="2200"/>
              </a:spcBef>
              <a:tabLst>
                <a:tab pos="1600200" algn="l"/>
              </a:tabLst>
              <a:defRPr sz="2890"/>
            </a:pPr>
            <a:r>
              <a:rPr lang="en-US" sz="2500" dirty="0" err="1">
                <a:latin typeface="+mn-lt"/>
                <a:ea typeface="+mn-ea"/>
                <a:cs typeface="+mn-cs"/>
              </a:rPr>
              <a:t>모든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전략은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결정적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함수</a:t>
            </a:r>
            <a:r>
              <a:rPr lang="en-US" sz="2500" dirty="0">
                <a:latin typeface="+mn-lt"/>
                <a:ea typeface="+mn-ea"/>
                <a:cs typeface="+mn-cs"/>
              </a:rPr>
              <a:t>: </a:t>
            </a:r>
            <a:r>
              <a:rPr lang="en-US" sz="2500" dirty="0" err="1">
                <a:latin typeface="+mn-lt"/>
                <a:ea typeface="+mn-ea"/>
                <a:cs typeface="+mn-cs"/>
              </a:rPr>
              <a:t>통계적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과정이</a:t>
            </a:r>
            <a:r>
              <a:rPr lang="en-US" sz="2500" dirty="0">
                <a:latin typeface="+mn-lt"/>
                <a:ea typeface="+mn-ea"/>
                <a:cs typeface="+mn-cs"/>
              </a:rPr>
              <a:t> </a:t>
            </a:r>
            <a:r>
              <a:rPr lang="en-US" sz="2500" dirty="0" err="1">
                <a:latin typeface="+mn-lt"/>
                <a:ea typeface="+mn-ea"/>
                <a:cs typeface="+mn-cs"/>
              </a:rPr>
              <a:t>없음</a:t>
            </a:r>
            <a:endParaRPr lang="en-US" sz="25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5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" grpId="1" build="p" bldLvl="5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위험자산 비중"/>
          <p:cNvSpPr txBox="1">
            <a:spLocks noGrp="1"/>
          </p:cNvSpPr>
          <p:nvPr>
            <p:ph type="title"/>
          </p:nvPr>
        </p:nvSpPr>
        <p:spPr>
          <a:xfrm>
            <a:off x="1270000" y="-62230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t>위험자산 비중</a:t>
            </a:r>
          </a:p>
        </p:txBody>
      </p:sp>
      <p:pic>
        <p:nvPicPr>
          <p:cNvPr id="547" name="Screen shot 2011-11-26 at 3.44.24 AM.jpg" descr="Screen shot 2011-11-26 at 3.44.24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1340174"/>
            <a:ext cx="11099801" cy="8057322"/>
          </a:xfrm>
          <a:prstGeom prst="rect">
            <a:avLst/>
          </a:prstGeom>
          <a:ln w="12700">
            <a:miter lim="400000"/>
          </a:ln>
        </p:spPr>
      </p:pic>
      <p:sp>
        <p:nvSpPr>
          <p:cNvPr id="548" name="단리적 보상: 정보그룹이 상대적으로 안정적"/>
          <p:cNvSpPr/>
          <p:nvPr/>
        </p:nvSpPr>
        <p:spPr>
          <a:xfrm>
            <a:off x="5321300" y="1244600"/>
            <a:ext cx="3225800" cy="2222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1" y="0"/>
                </a:moveTo>
                <a:cubicBezTo>
                  <a:pt x="761" y="0"/>
                  <a:pt x="0" y="1105"/>
                  <a:pt x="0" y="2469"/>
                </a:cubicBezTo>
                <a:lnTo>
                  <a:pt x="0" y="14565"/>
                </a:lnTo>
                <a:cubicBezTo>
                  <a:pt x="0" y="15928"/>
                  <a:pt x="761" y="17033"/>
                  <a:pt x="1701" y="17033"/>
                </a:cubicBezTo>
                <a:lnTo>
                  <a:pt x="16328" y="17033"/>
                </a:lnTo>
                <a:cubicBezTo>
                  <a:pt x="16487" y="17033"/>
                  <a:pt x="16638" y="16992"/>
                  <a:pt x="16785" y="16933"/>
                </a:cubicBezTo>
                <a:lnTo>
                  <a:pt x="21600" y="21600"/>
                </a:lnTo>
                <a:lnTo>
                  <a:pt x="17996" y="15039"/>
                </a:lnTo>
                <a:cubicBezTo>
                  <a:pt x="18017" y="14885"/>
                  <a:pt x="18028" y="14727"/>
                  <a:pt x="18028" y="14565"/>
                </a:cubicBezTo>
                <a:lnTo>
                  <a:pt x="18028" y="2469"/>
                </a:lnTo>
                <a:cubicBezTo>
                  <a:pt x="18028" y="1105"/>
                  <a:pt x="17267" y="0"/>
                  <a:pt x="16328" y="0"/>
                </a:cubicBezTo>
                <a:lnTo>
                  <a:pt x="1701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단리적 보상: 정보그룹이 상대적으로 안정적</a:t>
            </a:r>
          </a:p>
        </p:txBody>
      </p:sp>
      <p:sp>
        <p:nvSpPr>
          <p:cNvPr id="549" name="복리적 보상: 미정보그룹이 상대적으로 안정적"/>
          <p:cNvSpPr/>
          <p:nvPr/>
        </p:nvSpPr>
        <p:spPr>
          <a:xfrm>
            <a:off x="4699000" y="4508500"/>
            <a:ext cx="3479800" cy="2400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39" y="0"/>
                </a:moveTo>
                <a:cubicBezTo>
                  <a:pt x="4569" y="0"/>
                  <a:pt x="3863" y="1023"/>
                  <a:pt x="3863" y="2286"/>
                </a:cubicBezTo>
                <a:lnTo>
                  <a:pt x="3863" y="13486"/>
                </a:lnTo>
                <a:cubicBezTo>
                  <a:pt x="3863" y="13683"/>
                  <a:pt x="3885" y="13871"/>
                  <a:pt x="3917" y="14054"/>
                </a:cubicBezTo>
                <a:lnTo>
                  <a:pt x="0" y="21600"/>
                </a:lnTo>
                <a:lnTo>
                  <a:pt x="5087" y="15711"/>
                </a:lnTo>
                <a:cubicBezTo>
                  <a:pt x="5201" y="15748"/>
                  <a:pt x="5318" y="15771"/>
                  <a:pt x="5439" y="15771"/>
                </a:cubicBezTo>
                <a:lnTo>
                  <a:pt x="20023" y="15771"/>
                </a:lnTo>
                <a:cubicBezTo>
                  <a:pt x="20894" y="15771"/>
                  <a:pt x="21600" y="14748"/>
                  <a:pt x="21600" y="13486"/>
                </a:cubicBezTo>
                <a:lnTo>
                  <a:pt x="21600" y="2286"/>
                </a:lnTo>
                <a:cubicBezTo>
                  <a:pt x="21600" y="1023"/>
                  <a:pt x="20894" y="0"/>
                  <a:pt x="20023" y="0"/>
                </a:cubicBezTo>
                <a:lnTo>
                  <a:pt x="5439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복리적 보상: 미정보그룹이 상대적으로 안정적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" grpId="1" animBg="1" advAuto="0"/>
      <p:bldP spid="549" grpId="2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Risky Asset Ratio Statistics after 1000 round"/>
          <p:cNvSpPr txBox="1">
            <a:spLocks noGrp="1"/>
          </p:cNvSpPr>
          <p:nvPr>
            <p:ph type="title"/>
          </p:nvPr>
        </p:nvSpPr>
        <p:spPr>
          <a:xfrm>
            <a:off x="1435100" y="457200"/>
            <a:ext cx="10464800" cy="2476500"/>
          </a:xfrm>
          <a:prstGeom prst="rect">
            <a:avLst/>
          </a:prstGeom>
        </p:spPr>
        <p:txBody>
          <a:bodyPr/>
          <a:lstStyle>
            <a:lvl1pPr defTabSz="514095">
              <a:lnSpc>
                <a:spcPts val="8400"/>
              </a:lnSpc>
              <a:spcBef>
                <a:spcPts val="200"/>
              </a:spcBef>
              <a:tabLst>
                <a:tab pos="1066800" algn="l"/>
              </a:tabLst>
              <a:defRPr sz="7040"/>
            </a:lvl1pPr>
          </a:lstStyle>
          <a:p>
            <a:r>
              <a:rPr dirty="0"/>
              <a:t>Risky Asset Ratio Statistics after 1000 round</a:t>
            </a:r>
          </a:p>
        </p:txBody>
      </p:sp>
      <p:pic>
        <p:nvPicPr>
          <p:cNvPr id="552" name="droppedImage.pdf" descr="droppedImage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100" y="3403600"/>
            <a:ext cx="9194800" cy="5892800"/>
          </a:xfrm>
          <a:prstGeom prst="rect">
            <a:avLst/>
          </a:prstGeom>
          <a:ln w="12700">
            <a:miter lim="400000"/>
          </a:ln>
        </p:spPr>
      </p:pic>
      <p:sp>
        <p:nvSpPr>
          <p:cNvPr id="553" name="단리적 보상: 정보그룹이 상대적으로 안정적"/>
          <p:cNvSpPr/>
          <p:nvPr/>
        </p:nvSpPr>
        <p:spPr>
          <a:xfrm>
            <a:off x="5715000" y="2819400"/>
            <a:ext cx="5803900" cy="2032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217" y="0"/>
                </a:moveTo>
                <a:cubicBezTo>
                  <a:pt x="8695" y="0"/>
                  <a:pt x="8271" y="1209"/>
                  <a:pt x="8271" y="2700"/>
                </a:cubicBezTo>
                <a:lnTo>
                  <a:pt x="8271" y="15120"/>
                </a:lnTo>
                <a:lnTo>
                  <a:pt x="0" y="21600"/>
                </a:lnTo>
                <a:lnTo>
                  <a:pt x="8524" y="17761"/>
                </a:lnTo>
                <a:cubicBezTo>
                  <a:pt x="8697" y="18294"/>
                  <a:pt x="8942" y="18630"/>
                  <a:pt x="9217" y="18630"/>
                </a:cubicBezTo>
                <a:lnTo>
                  <a:pt x="20655" y="18630"/>
                </a:lnTo>
                <a:cubicBezTo>
                  <a:pt x="21177" y="18630"/>
                  <a:pt x="21600" y="17421"/>
                  <a:pt x="21600" y="15930"/>
                </a:cubicBezTo>
                <a:lnTo>
                  <a:pt x="21600" y="2700"/>
                </a:lnTo>
                <a:cubicBezTo>
                  <a:pt x="21600" y="1209"/>
                  <a:pt x="21177" y="0"/>
                  <a:pt x="20655" y="0"/>
                </a:cubicBezTo>
                <a:lnTo>
                  <a:pt x="9217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단리적 보상: 정보그룹이 상대적으로 안정적</a:t>
            </a:r>
          </a:p>
        </p:txBody>
      </p:sp>
      <p:sp>
        <p:nvSpPr>
          <p:cNvPr id="554" name="복리적 보상: 미정보그룹이 상대적으로 안정적"/>
          <p:cNvSpPr/>
          <p:nvPr/>
        </p:nvSpPr>
        <p:spPr>
          <a:xfrm>
            <a:off x="5524500" y="6223000"/>
            <a:ext cx="5842000" cy="27559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06" y="0"/>
                </a:moveTo>
                <a:cubicBezTo>
                  <a:pt x="10187" y="0"/>
                  <a:pt x="9767" y="891"/>
                  <a:pt x="9767" y="1991"/>
                </a:cubicBezTo>
                <a:lnTo>
                  <a:pt x="9767" y="11512"/>
                </a:lnTo>
                <a:lnTo>
                  <a:pt x="0" y="21600"/>
                </a:lnTo>
                <a:lnTo>
                  <a:pt x="10154" y="13351"/>
                </a:lnTo>
                <a:cubicBezTo>
                  <a:pt x="10310" y="13591"/>
                  <a:pt x="10499" y="13736"/>
                  <a:pt x="10706" y="13736"/>
                </a:cubicBezTo>
                <a:lnTo>
                  <a:pt x="20661" y="13736"/>
                </a:lnTo>
                <a:cubicBezTo>
                  <a:pt x="21180" y="13736"/>
                  <a:pt x="21600" y="12845"/>
                  <a:pt x="21600" y="11746"/>
                </a:cubicBezTo>
                <a:lnTo>
                  <a:pt x="21600" y="1991"/>
                </a:lnTo>
                <a:cubicBezTo>
                  <a:pt x="21600" y="891"/>
                  <a:pt x="21180" y="0"/>
                  <a:pt x="20661" y="0"/>
                </a:cubicBezTo>
                <a:lnTo>
                  <a:pt x="10706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복리적 보상: 미정보그룹이 상대적으로 안정적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" grpId="1" animBg="1" advAuto="0"/>
      <p:bldP spid="554" grpId="2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파산 통계"/>
          <p:cNvSpPr txBox="1">
            <a:spLocks noGrp="1"/>
          </p:cNvSpPr>
          <p:nvPr>
            <p:ph type="title"/>
          </p:nvPr>
        </p:nvSpPr>
        <p:spPr>
          <a:xfrm>
            <a:off x="1270000" y="43815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파산</a:t>
            </a:r>
            <a:r>
              <a:rPr dirty="0"/>
              <a:t> </a:t>
            </a:r>
            <a:r>
              <a:rPr dirty="0" err="1"/>
              <a:t>통계</a:t>
            </a:r>
            <a:endParaRPr dirty="0"/>
          </a:p>
        </p:txBody>
      </p:sp>
      <p:pic>
        <p:nvPicPr>
          <p:cNvPr id="557" name="droppedImage.pdf" descr="droppedImage.pdf"/>
          <p:cNvPicPr>
            <a:picLocks noChangeAspect="1"/>
          </p:cNvPicPr>
          <p:nvPr/>
        </p:nvPicPr>
        <p:blipFill>
          <a:blip r:embed="rId2"/>
          <a:srcRect r="51104"/>
          <a:stretch>
            <a:fillRect/>
          </a:stretch>
        </p:blipFill>
        <p:spPr>
          <a:xfrm>
            <a:off x="4254500" y="3251200"/>
            <a:ext cx="4495800" cy="5892800"/>
          </a:xfrm>
          <a:prstGeom prst="rect">
            <a:avLst/>
          </a:prstGeom>
          <a:ln w="12700">
            <a:miter lim="400000"/>
          </a:ln>
        </p:spPr>
      </p:pic>
      <p:sp>
        <p:nvSpPr>
          <p:cNvPr id="558" name="단리적 보상의 파산 횟수가 복리적 보상의 경우보다 4배 가량 많음.…"/>
          <p:cNvSpPr/>
          <p:nvPr/>
        </p:nvSpPr>
        <p:spPr>
          <a:xfrm>
            <a:off x="6908800" y="3606800"/>
            <a:ext cx="5803900" cy="2971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217" y="0"/>
                </a:moveTo>
                <a:cubicBezTo>
                  <a:pt x="8695" y="0"/>
                  <a:pt x="8271" y="827"/>
                  <a:pt x="8271" y="1846"/>
                </a:cubicBezTo>
                <a:lnTo>
                  <a:pt x="8271" y="13846"/>
                </a:lnTo>
                <a:lnTo>
                  <a:pt x="0" y="14769"/>
                </a:lnTo>
                <a:lnTo>
                  <a:pt x="8271" y="15692"/>
                </a:lnTo>
                <a:lnTo>
                  <a:pt x="8271" y="19754"/>
                </a:lnTo>
                <a:cubicBezTo>
                  <a:pt x="8271" y="20773"/>
                  <a:pt x="8695" y="21600"/>
                  <a:pt x="9217" y="21600"/>
                </a:cubicBezTo>
                <a:lnTo>
                  <a:pt x="20655" y="21600"/>
                </a:lnTo>
                <a:cubicBezTo>
                  <a:pt x="21177" y="21600"/>
                  <a:pt x="21600" y="20773"/>
                  <a:pt x="21600" y="19754"/>
                </a:cubicBezTo>
                <a:lnTo>
                  <a:pt x="21600" y="1846"/>
                </a:lnTo>
                <a:cubicBezTo>
                  <a:pt x="21600" y="827"/>
                  <a:pt x="21177" y="0"/>
                  <a:pt x="20655" y="0"/>
                </a:cubicBezTo>
                <a:lnTo>
                  <a:pt x="9217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단리적 보상의 파산 횟수가 복리적 보상의 경우보다 4배 가량 많음.</a:t>
            </a:r>
          </a:p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이유: 파산회피에 시간이 걸림</a:t>
            </a:r>
          </a:p>
        </p:txBody>
      </p:sp>
      <p:sp>
        <p:nvSpPr>
          <p:cNvPr id="559" name="정보 유무에  따른 파산 횟수의 차이는 비슷"/>
          <p:cNvSpPr/>
          <p:nvPr/>
        </p:nvSpPr>
        <p:spPr>
          <a:xfrm>
            <a:off x="368300" y="5842000"/>
            <a:ext cx="5257800" cy="2235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43" y="0"/>
                </a:moveTo>
                <a:cubicBezTo>
                  <a:pt x="467" y="0"/>
                  <a:pt x="0" y="1099"/>
                  <a:pt x="0" y="2455"/>
                </a:cubicBezTo>
                <a:lnTo>
                  <a:pt x="0" y="19145"/>
                </a:lnTo>
                <a:cubicBezTo>
                  <a:pt x="0" y="20501"/>
                  <a:pt x="467" y="21600"/>
                  <a:pt x="1043" y="21600"/>
                </a:cubicBezTo>
                <a:lnTo>
                  <a:pt x="13670" y="21600"/>
                </a:lnTo>
                <a:cubicBezTo>
                  <a:pt x="14009" y="21600"/>
                  <a:pt x="14307" y="21215"/>
                  <a:pt x="14498" y="20626"/>
                </a:cubicBezTo>
                <a:lnTo>
                  <a:pt x="21600" y="21232"/>
                </a:lnTo>
                <a:lnTo>
                  <a:pt x="14713" y="18175"/>
                </a:lnTo>
                <a:lnTo>
                  <a:pt x="14713" y="2455"/>
                </a:lnTo>
                <a:cubicBezTo>
                  <a:pt x="14713" y="1099"/>
                  <a:pt x="14246" y="0"/>
                  <a:pt x="13670" y="0"/>
                </a:cubicBezTo>
                <a:lnTo>
                  <a:pt x="104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정보 유무에  따른 파산 횟수의 차이는 비슷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" grpId="1" animBg="1" advAuto="0"/>
      <p:bldP spid="559" grpId="2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전략 비율"/>
          <p:cNvSpPr txBox="1">
            <a:spLocks noGrp="1"/>
          </p:cNvSpPr>
          <p:nvPr>
            <p:ph type="title"/>
          </p:nvPr>
        </p:nvSpPr>
        <p:spPr>
          <a:xfrm>
            <a:off x="-2527300" y="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t>전략 비율</a:t>
            </a:r>
          </a:p>
        </p:txBody>
      </p:sp>
      <p:pic>
        <p:nvPicPr>
          <p:cNvPr id="562" name="Screen shot 2011-11-26 at 3.49.20 AM.jpg" descr="Screen shot 2011-11-26 at 3.49.20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30" y="2019300"/>
            <a:ext cx="10384682" cy="7531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63" name="strategy_ratio_legend.jpg" descr="strategy_ratio_leg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277" y="203200"/>
            <a:ext cx="6524906" cy="2070100"/>
          </a:xfrm>
          <a:prstGeom prst="rect">
            <a:avLst/>
          </a:prstGeom>
          <a:ln w="12700">
            <a:miter lim="400000"/>
          </a:ln>
        </p:spPr>
      </p:pic>
      <p:sp>
        <p:nvSpPr>
          <p:cNvPr id="564" name="단리적 보상: 지배적 전략 부재"/>
          <p:cNvSpPr/>
          <p:nvPr/>
        </p:nvSpPr>
        <p:spPr>
          <a:xfrm>
            <a:off x="8890000" y="3784600"/>
            <a:ext cx="3200400" cy="2298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3490" y="6910"/>
                </a:lnTo>
                <a:cubicBezTo>
                  <a:pt x="3453" y="7105"/>
                  <a:pt x="3429" y="7307"/>
                  <a:pt x="3429" y="7518"/>
                </a:cubicBezTo>
                <a:lnTo>
                  <a:pt x="3429" y="19213"/>
                </a:lnTo>
                <a:cubicBezTo>
                  <a:pt x="3429" y="20531"/>
                  <a:pt x="4196" y="21600"/>
                  <a:pt x="5143" y="21600"/>
                </a:cubicBezTo>
                <a:lnTo>
                  <a:pt x="19886" y="21600"/>
                </a:lnTo>
                <a:cubicBezTo>
                  <a:pt x="20832" y="21600"/>
                  <a:pt x="21600" y="20531"/>
                  <a:pt x="21600" y="19213"/>
                </a:cubicBezTo>
                <a:lnTo>
                  <a:pt x="21600" y="7518"/>
                </a:lnTo>
                <a:cubicBezTo>
                  <a:pt x="21600" y="6200"/>
                  <a:pt x="20832" y="5131"/>
                  <a:pt x="19886" y="5131"/>
                </a:cubicBezTo>
                <a:lnTo>
                  <a:pt x="5143" y="5131"/>
                </a:lnTo>
                <a:cubicBezTo>
                  <a:pt x="5019" y="5131"/>
                  <a:pt x="4900" y="5153"/>
                  <a:pt x="4784" y="5187"/>
                </a:cubicBezTo>
                <a:lnTo>
                  <a:pt x="0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단리적 보상: 지배적 전략 부재</a:t>
            </a:r>
          </a:p>
        </p:txBody>
      </p:sp>
      <p:sp>
        <p:nvSpPr>
          <p:cNvPr id="565" name="복리적 보상+비정보: CON(degree 0)전략 우세 경향"/>
          <p:cNvSpPr/>
          <p:nvPr/>
        </p:nvSpPr>
        <p:spPr>
          <a:xfrm>
            <a:off x="241300" y="4114800"/>
            <a:ext cx="3873500" cy="2298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6" y="0"/>
                </a:moveTo>
                <a:cubicBezTo>
                  <a:pt x="634" y="0"/>
                  <a:pt x="0" y="1069"/>
                  <a:pt x="0" y="2387"/>
                </a:cubicBezTo>
                <a:lnTo>
                  <a:pt x="0" y="14082"/>
                </a:lnTo>
                <a:cubicBezTo>
                  <a:pt x="0" y="15400"/>
                  <a:pt x="634" y="16469"/>
                  <a:pt x="1416" y="16469"/>
                </a:cubicBezTo>
                <a:lnTo>
                  <a:pt x="17209" y="16469"/>
                </a:lnTo>
                <a:cubicBezTo>
                  <a:pt x="17319" y="16469"/>
                  <a:pt x="17425" y="16441"/>
                  <a:pt x="17528" y="16401"/>
                </a:cubicBezTo>
                <a:lnTo>
                  <a:pt x="21600" y="21600"/>
                </a:lnTo>
                <a:lnTo>
                  <a:pt x="18581" y="14652"/>
                </a:lnTo>
                <a:cubicBezTo>
                  <a:pt x="18608" y="14469"/>
                  <a:pt x="18626" y="14279"/>
                  <a:pt x="18626" y="14082"/>
                </a:cubicBezTo>
                <a:lnTo>
                  <a:pt x="18626" y="2387"/>
                </a:lnTo>
                <a:cubicBezTo>
                  <a:pt x="18626" y="1069"/>
                  <a:pt x="17991" y="0"/>
                  <a:pt x="17209" y="0"/>
                </a:cubicBezTo>
                <a:lnTo>
                  <a:pt x="1416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복리적 보상+비정보: CON(degree 0)전략 우세 경향</a:t>
            </a:r>
          </a:p>
        </p:txBody>
      </p:sp>
      <p:sp>
        <p:nvSpPr>
          <p:cNvPr id="566" name="복리적 보상+정보: CON(degree 0)전략, FLIPCHARTINFOTS전략 의 경쟁 혹은 우세경향"/>
          <p:cNvSpPr/>
          <p:nvPr/>
        </p:nvSpPr>
        <p:spPr>
          <a:xfrm>
            <a:off x="4610100" y="4013200"/>
            <a:ext cx="3644900" cy="2476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05" y="0"/>
                </a:moveTo>
                <a:cubicBezTo>
                  <a:pt x="674" y="0"/>
                  <a:pt x="0" y="992"/>
                  <a:pt x="0" y="2215"/>
                </a:cubicBezTo>
                <a:lnTo>
                  <a:pt x="0" y="19385"/>
                </a:lnTo>
                <a:cubicBezTo>
                  <a:pt x="0" y="20608"/>
                  <a:pt x="674" y="21600"/>
                  <a:pt x="1505" y="21600"/>
                </a:cubicBezTo>
                <a:lnTo>
                  <a:pt x="18289" y="21600"/>
                </a:lnTo>
                <a:cubicBezTo>
                  <a:pt x="19012" y="21600"/>
                  <a:pt x="19616" y="20849"/>
                  <a:pt x="19761" y="19848"/>
                </a:cubicBezTo>
                <a:lnTo>
                  <a:pt x="21600" y="18720"/>
                </a:lnTo>
                <a:lnTo>
                  <a:pt x="19794" y="17612"/>
                </a:lnTo>
                <a:lnTo>
                  <a:pt x="19794" y="2215"/>
                </a:lnTo>
                <a:cubicBezTo>
                  <a:pt x="19794" y="992"/>
                  <a:pt x="19120" y="0"/>
                  <a:pt x="18289" y="0"/>
                </a:cubicBezTo>
                <a:lnTo>
                  <a:pt x="1505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lnSpc>
                <a:spcPts val="2800"/>
              </a:lnSpc>
              <a:spcBef>
                <a:spcPts val="0"/>
              </a:spcBef>
              <a:tabLst>
                <a:tab pos="1066800" algn="l"/>
              </a:tabLst>
              <a:defRPr sz="2400"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복리적 보상+정보: CON(degree 0)전략, FLIPCHARTINFOTS전략 의 경쟁 혹은 우세경향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4" grpId="1" animBg="1" advAuto="0"/>
      <p:bldP spid="565" grpId="2" animBg="1" advAuto="0"/>
      <p:bldP spid="566" grpId="3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4" name="Rectangle 57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3004797" cy="22623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656326" cy="2262388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656318" y="-1"/>
            <a:ext cx="4348478" cy="2262388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73" y="-1"/>
            <a:ext cx="12514822" cy="227190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8" name="CON, FLIPCHARTINFOTS 전략"/>
          <p:cNvSpPr txBox="1">
            <a:spLocks noGrp="1"/>
          </p:cNvSpPr>
          <p:nvPr>
            <p:ph type="title"/>
          </p:nvPr>
        </p:nvSpPr>
        <p:spPr>
          <a:xfrm>
            <a:off x="1463038" y="418898"/>
            <a:ext cx="10555682" cy="1470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defTabSz="531622">
              <a:lnSpc>
                <a:spcPts val="8700"/>
              </a:lnSpc>
              <a:spcBef>
                <a:spcPts val="200"/>
              </a:spcBef>
              <a:tabLst>
                <a:tab pos="1104900" algn="l"/>
              </a:tabLst>
              <a:defRPr sz="7280"/>
            </a:lvl1pPr>
          </a:lstStyle>
          <a:p>
            <a:pPr defTabSz="914400">
              <a:lnSpc>
                <a:spcPct val="90000"/>
              </a:lnSpc>
              <a:spcBef>
                <a:spcPct val="0"/>
              </a:spcBef>
            </a:pPr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CON, FLIPCHARTINFOTS 전략</a:t>
            </a:r>
          </a:p>
        </p:txBody>
      </p:sp>
      <p:sp>
        <p:nvSpPr>
          <p:cNvPr id="569" name="CON: degree 0 전략…"/>
          <p:cNvSpPr txBox="1">
            <a:spLocks noGrp="1"/>
          </p:cNvSpPr>
          <p:nvPr>
            <p:ph type="body" sz="half" idx="1"/>
          </p:nvPr>
        </p:nvSpPr>
        <p:spPr>
          <a:xfrm>
            <a:off x="1463038" y="3296991"/>
            <a:ext cx="10372300" cy="5238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CON: degree 0 전략</a:t>
            </a:r>
          </a:p>
          <a:p>
            <a:pPr lvl="1"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상대방의 전략과 상관없이 일정 비율을 투자</a:t>
            </a:r>
          </a:p>
          <a:p>
            <a:pPr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FLIPCHARTINFOTS: degree &gt; 1</a:t>
            </a:r>
          </a:p>
          <a:p>
            <a:pPr lvl="1"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최근 기억기간 m기 동안의 위험자산율을 통해 시간추세를 구한 뒤, 다음기의 위험자산율을 예측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6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" grpId="1" build="p" bldLvl="5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최종기 부의 분포"/>
          <p:cNvSpPr txBox="1">
            <a:spLocks noGrp="1"/>
          </p:cNvSpPr>
          <p:nvPr>
            <p:ph type="title"/>
          </p:nvPr>
        </p:nvSpPr>
        <p:spPr>
          <a:xfrm>
            <a:off x="1270000" y="-45720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t>최종기 부의 분포</a:t>
            </a:r>
          </a:p>
        </p:txBody>
      </p:sp>
      <p:pic>
        <p:nvPicPr>
          <p:cNvPr id="572" name="Screen shot 2011-11-26 at 4.01.38 AM.jpg" descr="Screen shot 2011-11-26 at 4.01.38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7" y="1358900"/>
            <a:ext cx="11420476" cy="8305800"/>
          </a:xfrm>
          <a:prstGeom prst="rect">
            <a:avLst/>
          </a:prstGeom>
          <a:ln w="12700">
            <a:miter lim="400000"/>
          </a:ln>
        </p:spPr>
      </p:pic>
      <p:sp>
        <p:nvSpPr>
          <p:cNvPr id="573" name="단리적 보상:…"/>
          <p:cNvSpPr/>
          <p:nvPr/>
        </p:nvSpPr>
        <p:spPr>
          <a:xfrm>
            <a:off x="5105400" y="1358900"/>
            <a:ext cx="3340100" cy="2108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3" y="0"/>
                </a:moveTo>
                <a:cubicBezTo>
                  <a:pt x="735" y="0"/>
                  <a:pt x="0" y="1165"/>
                  <a:pt x="0" y="2602"/>
                </a:cubicBezTo>
                <a:lnTo>
                  <a:pt x="0" y="15354"/>
                </a:lnTo>
                <a:cubicBezTo>
                  <a:pt x="0" y="16791"/>
                  <a:pt x="735" y="17957"/>
                  <a:pt x="1643" y="17957"/>
                </a:cubicBezTo>
                <a:lnTo>
                  <a:pt x="8870" y="17957"/>
                </a:lnTo>
                <a:lnTo>
                  <a:pt x="9691" y="21600"/>
                </a:lnTo>
                <a:lnTo>
                  <a:pt x="10513" y="17957"/>
                </a:lnTo>
                <a:lnTo>
                  <a:pt x="19957" y="17957"/>
                </a:lnTo>
                <a:cubicBezTo>
                  <a:pt x="20865" y="17957"/>
                  <a:pt x="21600" y="16791"/>
                  <a:pt x="21600" y="15354"/>
                </a:cubicBezTo>
                <a:lnTo>
                  <a:pt x="21600" y="2602"/>
                </a:lnTo>
                <a:cubicBezTo>
                  <a:pt x="21600" y="1165"/>
                  <a:pt x="20865" y="0"/>
                  <a:pt x="19957" y="0"/>
                </a:cubicBezTo>
                <a:lnTo>
                  <a:pt x="164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단리적 보상:</a:t>
            </a:r>
          </a:p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정규분포와 유사</a:t>
            </a:r>
          </a:p>
        </p:txBody>
      </p:sp>
      <p:sp>
        <p:nvSpPr>
          <p:cNvPr id="574" name="복리적 보상:…"/>
          <p:cNvSpPr/>
          <p:nvPr/>
        </p:nvSpPr>
        <p:spPr>
          <a:xfrm>
            <a:off x="5105400" y="5029200"/>
            <a:ext cx="3340100" cy="2108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3" y="0"/>
                </a:moveTo>
                <a:cubicBezTo>
                  <a:pt x="735" y="0"/>
                  <a:pt x="0" y="1165"/>
                  <a:pt x="0" y="2602"/>
                </a:cubicBezTo>
                <a:lnTo>
                  <a:pt x="0" y="15354"/>
                </a:lnTo>
                <a:cubicBezTo>
                  <a:pt x="0" y="16791"/>
                  <a:pt x="735" y="17957"/>
                  <a:pt x="1643" y="17957"/>
                </a:cubicBezTo>
                <a:lnTo>
                  <a:pt x="8870" y="17957"/>
                </a:lnTo>
                <a:lnTo>
                  <a:pt x="9691" y="21600"/>
                </a:lnTo>
                <a:lnTo>
                  <a:pt x="10513" y="17957"/>
                </a:lnTo>
                <a:lnTo>
                  <a:pt x="19957" y="17957"/>
                </a:lnTo>
                <a:cubicBezTo>
                  <a:pt x="20865" y="17957"/>
                  <a:pt x="21600" y="16791"/>
                  <a:pt x="21600" y="15354"/>
                </a:cubicBezTo>
                <a:lnTo>
                  <a:pt x="21600" y="2602"/>
                </a:lnTo>
                <a:cubicBezTo>
                  <a:pt x="21600" y="1165"/>
                  <a:pt x="20865" y="0"/>
                  <a:pt x="19957" y="0"/>
                </a:cubicBezTo>
                <a:lnTo>
                  <a:pt x="164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복리적 보상:</a:t>
            </a:r>
          </a:p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???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" grpId="1" animBg="1" advAuto="0"/>
      <p:bldP spid="574" grpId="2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kernel density plot…"/>
          <p:cNvSpPr txBox="1">
            <a:spLocks noGrp="1"/>
          </p:cNvSpPr>
          <p:nvPr>
            <p:ph type="title"/>
          </p:nvPr>
        </p:nvSpPr>
        <p:spPr>
          <a:xfrm>
            <a:off x="1267188" y="40640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t>kernel density plot</a:t>
            </a:r>
          </a:p>
          <a:p>
            <a:pPr>
              <a:lnSpc>
                <a:spcPts val="5700"/>
              </a:lnSpc>
              <a:defRPr sz="4800"/>
            </a:pPr>
            <a:r>
              <a:t>(dash: normal distribution)</a:t>
            </a:r>
          </a:p>
        </p:txBody>
      </p:sp>
      <p:pic>
        <p:nvPicPr>
          <p:cNvPr id="577" name="Screen shot 2011-11-26 at 5.07.20 AM.jpg" descr="Screen shot 2011-11-26 at 5.07.20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777" y="3251200"/>
            <a:ext cx="8641623" cy="6261100"/>
          </a:xfrm>
          <a:prstGeom prst="rect">
            <a:avLst/>
          </a:prstGeom>
          <a:ln w="12700">
            <a:miter lim="400000"/>
          </a:ln>
        </p:spPr>
      </p:pic>
      <p:sp>
        <p:nvSpPr>
          <p:cNvPr id="578" name="PROP: 수평에 가까운 두꺼운 분포 구간 존재"/>
          <p:cNvSpPr/>
          <p:nvPr/>
        </p:nvSpPr>
        <p:spPr>
          <a:xfrm>
            <a:off x="0" y="6070600"/>
            <a:ext cx="3746500" cy="2438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64" y="0"/>
                </a:moveTo>
                <a:cubicBezTo>
                  <a:pt x="656" y="0"/>
                  <a:pt x="0" y="1007"/>
                  <a:pt x="0" y="2250"/>
                </a:cubicBezTo>
                <a:lnTo>
                  <a:pt x="0" y="13275"/>
                </a:lnTo>
                <a:cubicBezTo>
                  <a:pt x="0" y="14518"/>
                  <a:pt x="656" y="15525"/>
                  <a:pt x="1464" y="15525"/>
                </a:cubicBezTo>
                <a:lnTo>
                  <a:pt x="17719" y="15525"/>
                </a:lnTo>
                <a:cubicBezTo>
                  <a:pt x="17755" y="15525"/>
                  <a:pt x="17788" y="15515"/>
                  <a:pt x="17822" y="15511"/>
                </a:cubicBezTo>
                <a:lnTo>
                  <a:pt x="21600" y="21600"/>
                </a:lnTo>
                <a:lnTo>
                  <a:pt x="19067" y="14157"/>
                </a:lnTo>
                <a:cubicBezTo>
                  <a:pt x="19142" y="13886"/>
                  <a:pt x="19184" y="13588"/>
                  <a:pt x="19184" y="13275"/>
                </a:cubicBezTo>
                <a:lnTo>
                  <a:pt x="19184" y="2250"/>
                </a:lnTo>
                <a:cubicBezTo>
                  <a:pt x="19184" y="1007"/>
                  <a:pt x="18528" y="0"/>
                  <a:pt x="17719" y="0"/>
                </a:cubicBezTo>
                <a:lnTo>
                  <a:pt x="1464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PROP: 수평에 가까운 두꺼운 분포 구간 존재</a:t>
            </a:r>
          </a:p>
        </p:txBody>
      </p:sp>
      <p:sp>
        <p:nvSpPr>
          <p:cNvPr id="579" name="Oval"/>
          <p:cNvSpPr/>
          <p:nvPr/>
        </p:nvSpPr>
        <p:spPr>
          <a:xfrm>
            <a:off x="2171700" y="7874000"/>
            <a:ext cx="2806700" cy="1270000"/>
          </a:xfrm>
          <a:prstGeom prst="ellipse">
            <a:avLst/>
          </a:prstGeom>
          <a:solidFill>
            <a:srgbClr val="FF2600">
              <a:alpha val="30000"/>
            </a:srgbClr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80" name="Oval"/>
          <p:cNvSpPr/>
          <p:nvPr/>
        </p:nvSpPr>
        <p:spPr>
          <a:xfrm>
            <a:off x="6743700" y="7874000"/>
            <a:ext cx="2514600" cy="1270000"/>
          </a:xfrm>
          <a:prstGeom prst="ellipse">
            <a:avLst/>
          </a:prstGeom>
          <a:solidFill>
            <a:srgbClr val="FF2600">
              <a:alpha val="30000"/>
            </a:srgbClr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" grpId="1" animBg="1" advAuto="0"/>
      <p:bldP spid="579" grpId="2" animBg="1" advAuto="0"/>
      <p:bldP spid="580" grpId="3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wo tier?…"/>
          <p:cNvSpPr txBox="1">
            <a:spLocks noGrp="1"/>
          </p:cNvSpPr>
          <p:nvPr>
            <p:ph type="title"/>
          </p:nvPr>
        </p:nvSpPr>
        <p:spPr>
          <a:xfrm>
            <a:off x="1270000" y="39370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rPr dirty="0"/>
              <a:t>Two tier?</a:t>
            </a:r>
          </a:p>
          <a:p>
            <a:r>
              <a:rPr dirty="0"/>
              <a:t>Tail + Body?</a:t>
            </a:r>
          </a:p>
        </p:txBody>
      </p:sp>
      <p:pic>
        <p:nvPicPr>
          <p:cNvPr id="583" name="Screen shot 2011-11-26 at 4.39.27 AM.jpg" descr="Screen shot 2011-11-26 at 4.39.27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08" y="4622800"/>
            <a:ext cx="12018084" cy="4216400"/>
          </a:xfrm>
          <a:prstGeom prst="rect">
            <a:avLst/>
          </a:prstGeom>
          <a:ln w="12700">
            <a:miter lim="400000"/>
          </a:ln>
        </p:spPr>
      </p:pic>
      <p:sp>
        <p:nvSpPr>
          <p:cNvPr id="584" name="Fat Tail"/>
          <p:cNvSpPr/>
          <p:nvPr/>
        </p:nvSpPr>
        <p:spPr>
          <a:xfrm>
            <a:off x="254000" y="3251200"/>
            <a:ext cx="3340100" cy="273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3" y="0"/>
                </a:moveTo>
                <a:cubicBezTo>
                  <a:pt x="735" y="0"/>
                  <a:pt x="0" y="900"/>
                  <a:pt x="0" y="2009"/>
                </a:cubicBezTo>
                <a:lnTo>
                  <a:pt x="0" y="6028"/>
                </a:lnTo>
                <a:cubicBezTo>
                  <a:pt x="0" y="7138"/>
                  <a:pt x="735" y="8037"/>
                  <a:pt x="1643" y="8037"/>
                </a:cubicBezTo>
                <a:lnTo>
                  <a:pt x="10430" y="8037"/>
                </a:lnTo>
                <a:lnTo>
                  <a:pt x="11252" y="21600"/>
                </a:lnTo>
                <a:lnTo>
                  <a:pt x="12073" y="8037"/>
                </a:lnTo>
                <a:lnTo>
                  <a:pt x="19957" y="8037"/>
                </a:lnTo>
                <a:cubicBezTo>
                  <a:pt x="20865" y="8037"/>
                  <a:pt x="21600" y="7138"/>
                  <a:pt x="21600" y="6028"/>
                </a:cubicBezTo>
                <a:lnTo>
                  <a:pt x="21600" y="2009"/>
                </a:lnTo>
                <a:cubicBezTo>
                  <a:pt x="21600" y="900"/>
                  <a:pt x="20865" y="0"/>
                  <a:pt x="19957" y="0"/>
                </a:cubicBezTo>
                <a:lnTo>
                  <a:pt x="164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Fat Tail</a:t>
            </a:r>
          </a:p>
        </p:txBody>
      </p:sp>
      <p:sp>
        <p:nvSpPr>
          <p:cNvPr id="585" name="Body"/>
          <p:cNvSpPr/>
          <p:nvPr/>
        </p:nvSpPr>
        <p:spPr>
          <a:xfrm>
            <a:off x="4445000" y="3251200"/>
            <a:ext cx="3340100" cy="2133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3" y="0"/>
                </a:moveTo>
                <a:cubicBezTo>
                  <a:pt x="735" y="0"/>
                  <a:pt x="0" y="1151"/>
                  <a:pt x="0" y="2571"/>
                </a:cubicBezTo>
                <a:lnTo>
                  <a:pt x="0" y="10286"/>
                </a:lnTo>
                <a:cubicBezTo>
                  <a:pt x="0" y="11706"/>
                  <a:pt x="735" y="12857"/>
                  <a:pt x="1643" y="12857"/>
                </a:cubicBezTo>
                <a:lnTo>
                  <a:pt x="9609" y="12857"/>
                </a:lnTo>
                <a:lnTo>
                  <a:pt x="10430" y="21600"/>
                </a:lnTo>
                <a:lnTo>
                  <a:pt x="11252" y="12857"/>
                </a:lnTo>
                <a:lnTo>
                  <a:pt x="19957" y="12857"/>
                </a:lnTo>
                <a:cubicBezTo>
                  <a:pt x="20865" y="12857"/>
                  <a:pt x="21600" y="11706"/>
                  <a:pt x="21600" y="10286"/>
                </a:cubicBezTo>
                <a:lnTo>
                  <a:pt x="21600" y="2571"/>
                </a:lnTo>
                <a:cubicBezTo>
                  <a:pt x="21600" y="1151"/>
                  <a:pt x="20865" y="0"/>
                  <a:pt x="19957" y="0"/>
                </a:cubicBezTo>
                <a:lnTo>
                  <a:pt x="164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Body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" grpId="1" animBg="1" advAuto="0"/>
      <p:bldP spid="585" grpId="2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최대 자산 보유 행위자의 부의 비중"/>
          <p:cNvSpPr txBox="1">
            <a:spLocks noGrp="1"/>
          </p:cNvSpPr>
          <p:nvPr>
            <p:ph type="title"/>
          </p:nvPr>
        </p:nvSpPr>
        <p:spPr>
          <a:xfrm>
            <a:off x="1390650" y="348757"/>
            <a:ext cx="10464800" cy="2476500"/>
          </a:xfrm>
          <a:prstGeom prst="rect">
            <a:avLst/>
          </a:prstGeom>
        </p:spPr>
        <p:txBody>
          <a:bodyPr/>
          <a:lstStyle>
            <a:lvl1pPr defTabSz="560831">
              <a:lnSpc>
                <a:spcPts val="9200"/>
              </a:lnSpc>
              <a:spcBef>
                <a:spcPts val="200"/>
              </a:spcBef>
              <a:tabLst>
                <a:tab pos="1168400" algn="l"/>
              </a:tabLst>
              <a:defRPr sz="7679"/>
            </a:lvl1pPr>
          </a:lstStyle>
          <a:p>
            <a:r>
              <a:rPr dirty="0" err="1"/>
              <a:t>최대</a:t>
            </a:r>
            <a:r>
              <a:rPr dirty="0"/>
              <a:t> </a:t>
            </a:r>
            <a:r>
              <a:rPr dirty="0" err="1"/>
              <a:t>자산</a:t>
            </a:r>
            <a:r>
              <a:rPr dirty="0"/>
              <a:t> </a:t>
            </a:r>
            <a:r>
              <a:rPr dirty="0" err="1"/>
              <a:t>보유</a:t>
            </a:r>
            <a:r>
              <a:rPr dirty="0"/>
              <a:t> </a:t>
            </a:r>
            <a:r>
              <a:rPr dirty="0" err="1"/>
              <a:t>행위자의</a:t>
            </a:r>
            <a:r>
              <a:rPr dirty="0"/>
              <a:t> </a:t>
            </a:r>
            <a:r>
              <a:rPr dirty="0" err="1"/>
              <a:t>부의</a:t>
            </a:r>
            <a:r>
              <a:rPr dirty="0"/>
              <a:t> </a:t>
            </a:r>
            <a:r>
              <a:rPr dirty="0" err="1"/>
              <a:t>비중</a:t>
            </a:r>
            <a:endParaRPr dirty="0"/>
          </a:p>
        </p:txBody>
      </p:sp>
      <p:pic>
        <p:nvPicPr>
          <p:cNvPr id="588" name="Screen shot 2011-11-26 at 5.05.11 AM.jpg" descr="Screen shot 2011-11-26 at 5.05.11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157" y="3250214"/>
            <a:ext cx="8636001" cy="6274786"/>
          </a:xfrm>
          <a:prstGeom prst="rect">
            <a:avLst/>
          </a:prstGeom>
          <a:ln w="12700">
            <a:miter lim="400000"/>
          </a:ln>
        </p:spPr>
      </p:pic>
      <p:sp>
        <p:nvSpPr>
          <p:cNvPr id="589" name="단리적 보상:…"/>
          <p:cNvSpPr/>
          <p:nvPr/>
        </p:nvSpPr>
        <p:spPr>
          <a:xfrm>
            <a:off x="4953000" y="2451100"/>
            <a:ext cx="3340100" cy="2108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3" y="0"/>
                </a:moveTo>
                <a:cubicBezTo>
                  <a:pt x="735" y="0"/>
                  <a:pt x="0" y="1165"/>
                  <a:pt x="0" y="2602"/>
                </a:cubicBezTo>
                <a:lnTo>
                  <a:pt x="0" y="15354"/>
                </a:lnTo>
                <a:cubicBezTo>
                  <a:pt x="0" y="16791"/>
                  <a:pt x="735" y="17957"/>
                  <a:pt x="1643" y="17957"/>
                </a:cubicBezTo>
                <a:lnTo>
                  <a:pt x="8870" y="17957"/>
                </a:lnTo>
                <a:lnTo>
                  <a:pt x="9691" y="21600"/>
                </a:lnTo>
                <a:lnTo>
                  <a:pt x="10513" y="17957"/>
                </a:lnTo>
                <a:lnTo>
                  <a:pt x="19957" y="17957"/>
                </a:lnTo>
                <a:cubicBezTo>
                  <a:pt x="20865" y="17957"/>
                  <a:pt x="21600" y="16791"/>
                  <a:pt x="21600" y="15354"/>
                </a:cubicBezTo>
                <a:lnTo>
                  <a:pt x="21600" y="2602"/>
                </a:lnTo>
                <a:cubicBezTo>
                  <a:pt x="21600" y="1165"/>
                  <a:pt x="20865" y="0"/>
                  <a:pt x="19957" y="0"/>
                </a:cubicBezTo>
                <a:lnTo>
                  <a:pt x="164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단리적 보상:</a:t>
            </a:r>
          </a:p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초기급증→ 감소추세</a:t>
            </a:r>
          </a:p>
        </p:txBody>
      </p:sp>
      <p:sp>
        <p:nvSpPr>
          <p:cNvPr id="590" name="복리적 보상:…"/>
          <p:cNvSpPr/>
          <p:nvPr/>
        </p:nvSpPr>
        <p:spPr>
          <a:xfrm>
            <a:off x="4953000" y="6121400"/>
            <a:ext cx="3340100" cy="2108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3" y="0"/>
                </a:moveTo>
                <a:cubicBezTo>
                  <a:pt x="735" y="0"/>
                  <a:pt x="0" y="1165"/>
                  <a:pt x="0" y="2602"/>
                </a:cubicBezTo>
                <a:lnTo>
                  <a:pt x="0" y="15354"/>
                </a:lnTo>
                <a:cubicBezTo>
                  <a:pt x="0" y="16791"/>
                  <a:pt x="735" y="17957"/>
                  <a:pt x="1643" y="17957"/>
                </a:cubicBezTo>
                <a:lnTo>
                  <a:pt x="8870" y="17957"/>
                </a:lnTo>
                <a:lnTo>
                  <a:pt x="9691" y="21600"/>
                </a:lnTo>
                <a:lnTo>
                  <a:pt x="10513" y="17957"/>
                </a:lnTo>
                <a:lnTo>
                  <a:pt x="19957" y="17957"/>
                </a:lnTo>
                <a:cubicBezTo>
                  <a:pt x="20865" y="17957"/>
                  <a:pt x="21600" y="16791"/>
                  <a:pt x="21600" y="15354"/>
                </a:cubicBezTo>
                <a:lnTo>
                  <a:pt x="21600" y="2602"/>
                </a:lnTo>
                <a:cubicBezTo>
                  <a:pt x="21600" y="1165"/>
                  <a:pt x="20865" y="0"/>
                  <a:pt x="19957" y="0"/>
                </a:cubicBezTo>
                <a:lnTo>
                  <a:pt x="164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복리적 보상:</a:t>
            </a:r>
          </a:p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t>지속적 증가추세</a:t>
            </a:r>
          </a:p>
        </p:txBody>
      </p:sp>
      <p:sp>
        <p:nvSpPr>
          <p:cNvPr id="591" name="복리적 보상 하에서 부의 불평등 분배 심화"/>
          <p:cNvSpPr/>
          <p:nvPr/>
        </p:nvSpPr>
        <p:spPr>
          <a:xfrm>
            <a:off x="342900" y="4876800"/>
            <a:ext cx="3898900" cy="2171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7" y="0"/>
                </a:moveTo>
                <a:cubicBezTo>
                  <a:pt x="630" y="0"/>
                  <a:pt x="0" y="1131"/>
                  <a:pt x="0" y="2526"/>
                </a:cubicBezTo>
                <a:lnTo>
                  <a:pt x="0" y="14905"/>
                </a:lnTo>
                <a:cubicBezTo>
                  <a:pt x="0" y="16301"/>
                  <a:pt x="630" y="17432"/>
                  <a:pt x="1407" y="17432"/>
                </a:cubicBezTo>
                <a:lnTo>
                  <a:pt x="18504" y="17432"/>
                </a:lnTo>
                <a:lnTo>
                  <a:pt x="19208" y="21600"/>
                </a:lnTo>
                <a:lnTo>
                  <a:pt x="19911" y="17432"/>
                </a:lnTo>
                <a:lnTo>
                  <a:pt x="20193" y="17432"/>
                </a:lnTo>
                <a:cubicBezTo>
                  <a:pt x="20970" y="17432"/>
                  <a:pt x="21600" y="16301"/>
                  <a:pt x="21600" y="14905"/>
                </a:cubicBezTo>
                <a:lnTo>
                  <a:pt x="21600" y="2526"/>
                </a:lnTo>
                <a:cubicBezTo>
                  <a:pt x="21600" y="1131"/>
                  <a:pt x="20970" y="0"/>
                  <a:pt x="20193" y="0"/>
                </a:cubicBezTo>
                <a:lnTo>
                  <a:pt x="1407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rPr dirty="0" err="1"/>
              <a:t>복리적</a:t>
            </a:r>
            <a:r>
              <a:rPr dirty="0"/>
              <a:t> </a:t>
            </a:r>
            <a:r>
              <a:rPr dirty="0" err="1"/>
              <a:t>보상</a:t>
            </a:r>
            <a:r>
              <a:rPr dirty="0"/>
              <a:t> </a:t>
            </a:r>
            <a:r>
              <a:rPr dirty="0" err="1"/>
              <a:t>하에서</a:t>
            </a:r>
            <a:r>
              <a:rPr dirty="0"/>
              <a:t> </a:t>
            </a:r>
            <a:r>
              <a:rPr dirty="0" err="1"/>
              <a:t>부의</a:t>
            </a:r>
            <a:r>
              <a:rPr dirty="0"/>
              <a:t> </a:t>
            </a:r>
            <a:r>
              <a:rPr dirty="0" err="1"/>
              <a:t>불평등</a:t>
            </a:r>
            <a:r>
              <a:rPr dirty="0"/>
              <a:t> </a:t>
            </a:r>
            <a:r>
              <a:rPr dirty="0" err="1"/>
              <a:t>분배</a:t>
            </a:r>
            <a:r>
              <a:rPr dirty="0"/>
              <a:t> </a:t>
            </a:r>
            <a:r>
              <a:rPr dirty="0" err="1"/>
              <a:t>심화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9" grpId="1" animBg="1" advAuto="0"/>
      <p:bldP spid="590" grpId="2" animBg="1" advAuto="0"/>
      <p:bldP spid="591" grpId="3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최종기 자산"/>
          <p:cNvSpPr txBox="1">
            <a:spLocks noGrp="1"/>
          </p:cNvSpPr>
          <p:nvPr>
            <p:ph type="title"/>
          </p:nvPr>
        </p:nvSpPr>
        <p:spPr>
          <a:xfrm>
            <a:off x="1270000" y="214649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최종기 자산</a:t>
            </a:r>
          </a:p>
        </p:txBody>
      </p:sp>
      <p:pic>
        <p:nvPicPr>
          <p:cNvPr id="594" name="box_wealth_aggregated.pdf" descr="box_wealth_aggregated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56" y="3038966"/>
            <a:ext cx="6451600" cy="4701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95" name="Screen shot 2011-11-26 at 5.54.38 AM.jpg" descr="Screen shot 2011-11-26 at 5.54.38 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299" y="2577932"/>
            <a:ext cx="4741301" cy="3441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96" name="Screen shot 2011-11-26 at 5.58.05 AM.jpg" descr="Screen shot 2011-11-26 at 5.58.05 A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400" y="6235700"/>
            <a:ext cx="4737200" cy="3429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4" name="Rectangle 60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3004797" cy="22623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656326" cy="2262388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656318" y="-1"/>
            <a:ext cx="4348478" cy="2262388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73" y="-1"/>
            <a:ext cx="12514822" cy="227190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8" name="흉내내기 기준 변화"/>
          <p:cNvSpPr txBox="1">
            <a:spLocks noGrp="1"/>
          </p:cNvSpPr>
          <p:nvPr>
            <p:ph type="title"/>
          </p:nvPr>
        </p:nvSpPr>
        <p:spPr>
          <a:xfrm>
            <a:off x="1463038" y="418898"/>
            <a:ext cx="10555682" cy="1470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흉내내기 기준 변화</a:t>
            </a:r>
          </a:p>
        </p:txBody>
      </p:sp>
      <p:sp>
        <p:nvSpPr>
          <p:cNvPr id="599" name="행위자들은 더 성공적이라고 판단되는 이웃의 전략을 흉내…"/>
          <p:cNvSpPr txBox="1">
            <a:spLocks noGrp="1"/>
          </p:cNvSpPr>
          <p:nvPr>
            <p:ph type="body" sz="half" idx="1"/>
          </p:nvPr>
        </p:nvSpPr>
        <p:spPr>
          <a:xfrm>
            <a:off x="1463038" y="3296991"/>
            <a:ext cx="10372300" cy="5238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6617" indent="-228600" defTabSz="914400">
              <a:lnSpc>
                <a:spcPct val="90000"/>
              </a:lnSpc>
              <a:spcBef>
                <a:spcPts val="2300"/>
              </a:spcBef>
              <a:tabLst>
                <a:tab pos="1333500" algn="l"/>
              </a:tabLst>
              <a:defRPr sz="3680"/>
            </a:pPr>
            <a:r>
              <a:rPr lang="en-US" sz="2500">
                <a:latin typeface="+mn-lt"/>
                <a:ea typeface="+mn-ea"/>
                <a:cs typeface="+mn-cs"/>
              </a:rPr>
              <a:t>행위자들은 더 성공적이라고 판단되는 이웃의 전략을 흉내</a:t>
            </a:r>
          </a:p>
          <a:p>
            <a:pPr marL="889588" lvl="1" indent="-228600" defTabSz="914400">
              <a:lnSpc>
                <a:spcPct val="90000"/>
              </a:lnSpc>
              <a:spcBef>
                <a:spcPts val="2300"/>
              </a:spcBef>
              <a:tabLst>
                <a:tab pos="1727200" algn="l"/>
              </a:tabLst>
              <a:defRPr sz="3128"/>
            </a:pPr>
            <a:r>
              <a:rPr lang="en-US" sz="2500">
                <a:latin typeface="+mn-lt"/>
                <a:ea typeface="+mn-ea"/>
                <a:cs typeface="+mn-cs"/>
              </a:rPr>
              <a:t>성공적 판단의 기준: 현재 보유하고 있는 부</a:t>
            </a:r>
          </a:p>
          <a:p>
            <a:pPr marL="889588" lvl="1" indent="-228600" defTabSz="914400">
              <a:lnSpc>
                <a:spcPct val="90000"/>
              </a:lnSpc>
              <a:spcBef>
                <a:spcPts val="2300"/>
              </a:spcBef>
              <a:tabLst>
                <a:tab pos="1727200" algn="l"/>
              </a:tabLst>
              <a:defRPr sz="3128"/>
            </a:pPr>
            <a:r>
              <a:rPr lang="en-US" sz="2500">
                <a:latin typeface="+mn-lt"/>
                <a:ea typeface="+mn-ea"/>
                <a:cs typeface="+mn-cs"/>
              </a:rPr>
              <a:t>이는 초기부터 현재 기까지의 수익률과 동등</a:t>
            </a:r>
          </a:p>
          <a:p>
            <a:pPr marL="889588" lvl="1" indent="-228600" defTabSz="914400">
              <a:lnSpc>
                <a:spcPct val="90000"/>
              </a:lnSpc>
              <a:spcBef>
                <a:spcPts val="2300"/>
              </a:spcBef>
              <a:tabLst>
                <a:tab pos="1727200" algn="l"/>
              </a:tabLst>
              <a:defRPr sz="3128"/>
            </a:pPr>
            <a:r>
              <a:rPr lang="en-US" sz="2500">
                <a:latin typeface="+mn-lt"/>
                <a:ea typeface="+mn-ea"/>
                <a:cs typeface="+mn-cs"/>
              </a:rPr>
              <a:t>이 성공판단의 기준을 일정 기간에 한하여 그 기간동안의 수익률로 수정</a:t>
            </a:r>
          </a:p>
          <a:p>
            <a:pPr marL="576617" indent="-228600" defTabSz="914400">
              <a:lnSpc>
                <a:spcPct val="90000"/>
              </a:lnSpc>
              <a:spcBef>
                <a:spcPts val="2300"/>
              </a:spcBef>
              <a:tabLst>
                <a:tab pos="1333500" algn="l"/>
              </a:tabLst>
              <a:defRPr sz="3680"/>
            </a:pPr>
            <a:r>
              <a:rPr lang="en-US" sz="2500">
                <a:latin typeface="+mn-lt"/>
                <a:ea typeface="+mn-ea"/>
                <a:cs typeface="+mn-cs"/>
              </a:rPr>
              <a:t>Rolling Window Regression의 아이디어와 유사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" grpId="1" build="p" bldLvl="5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Screen shot 2011-11-26 at 3.44.24 AM.jpg" descr="Screen shot 2011-11-26 at 3.44.24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2901" y="1606874"/>
            <a:ext cx="9715501" cy="7052462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602" name="Screen shot 2011-11-26 at 6.51.17 AM.jpg" descr="Screen shot 2011-11-26 at 6.51.17 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228" y="2578100"/>
            <a:ext cx="9835489" cy="709930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sp>
        <p:nvSpPr>
          <p:cNvPr id="603" name="비교기준: 500라운드"/>
          <p:cNvSpPr txBox="1">
            <a:spLocks noGrp="1"/>
          </p:cNvSpPr>
          <p:nvPr>
            <p:ph type="title"/>
          </p:nvPr>
        </p:nvSpPr>
        <p:spPr>
          <a:xfrm>
            <a:off x="1270000" y="-20320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비교기준</a:t>
            </a:r>
            <a:r>
              <a:rPr dirty="0"/>
              <a:t>: 500라운드</a:t>
            </a:r>
          </a:p>
        </p:txBody>
      </p:sp>
      <p:sp>
        <p:nvSpPr>
          <p:cNvPr id="604" name="PROP+No Info: 변동성 상승"/>
          <p:cNvSpPr/>
          <p:nvPr/>
        </p:nvSpPr>
        <p:spPr>
          <a:xfrm>
            <a:off x="3746500" y="5549900"/>
            <a:ext cx="3327400" cy="20447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9" y="0"/>
                </a:moveTo>
                <a:cubicBezTo>
                  <a:pt x="738" y="0"/>
                  <a:pt x="0" y="1201"/>
                  <a:pt x="0" y="2683"/>
                </a:cubicBezTo>
                <a:lnTo>
                  <a:pt x="0" y="15831"/>
                </a:lnTo>
                <a:cubicBezTo>
                  <a:pt x="0" y="17313"/>
                  <a:pt x="738" y="18514"/>
                  <a:pt x="1649" y="18514"/>
                </a:cubicBezTo>
                <a:lnTo>
                  <a:pt x="12696" y="18514"/>
                </a:lnTo>
                <a:lnTo>
                  <a:pt x="13521" y="21600"/>
                </a:lnTo>
                <a:lnTo>
                  <a:pt x="14345" y="18514"/>
                </a:lnTo>
                <a:lnTo>
                  <a:pt x="19951" y="18514"/>
                </a:lnTo>
                <a:cubicBezTo>
                  <a:pt x="20862" y="18514"/>
                  <a:pt x="21600" y="17313"/>
                  <a:pt x="21600" y="15831"/>
                </a:cubicBezTo>
                <a:lnTo>
                  <a:pt x="21600" y="2683"/>
                </a:lnTo>
                <a:cubicBezTo>
                  <a:pt x="21600" y="1201"/>
                  <a:pt x="20862" y="0"/>
                  <a:pt x="19951" y="0"/>
                </a:cubicBezTo>
                <a:lnTo>
                  <a:pt x="1649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PROP+No Info: 변동성 상승</a:t>
            </a:r>
          </a:p>
        </p:txBody>
      </p:sp>
      <p:sp>
        <p:nvSpPr>
          <p:cNvPr id="605" name="ADD: 변동성 저하"/>
          <p:cNvSpPr/>
          <p:nvPr/>
        </p:nvSpPr>
        <p:spPr>
          <a:xfrm>
            <a:off x="685800" y="1600200"/>
            <a:ext cx="3060700" cy="1930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3" y="0"/>
                </a:moveTo>
                <a:cubicBezTo>
                  <a:pt x="803" y="0"/>
                  <a:pt x="0" y="1272"/>
                  <a:pt x="0" y="2842"/>
                </a:cubicBezTo>
                <a:lnTo>
                  <a:pt x="0" y="16768"/>
                </a:lnTo>
                <a:cubicBezTo>
                  <a:pt x="0" y="18338"/>
                  <a:pt x="803" y="19611"/>
                  <a:pt x="1793" y="19611"/>
                </a:cubicBezTo>
                <a:lnTo>
                  <a:pt x="18373" y="19611"/>
                </a:lnTo>
                <a:cubicBezTo>
                  <a:pt x="18508" y="19611"/>
                  <a:pt x="18639" y="19584"/>
                  <a:pt x="18766" y="19539"/>
                </a:cubicBezTo>
                <a:lnTo>
                  <a:pt x="21600" y="21600"/>
                </a:lnTo>
                <a:lnTo>
                  <a:pt x="20138" y="17226"/>
                </a:lnTo>
                <a:cubicBezTo>
                  <a:pt x="20153" y="17076"/>
                  <a:pt x="20166" y="16925"/>
                  <a:pt x="20166" y="16768"/>
                </a:cubicBezTo>
                <a:lnTo>
                  <a:pt x="20166" y="2842"/>
                </a:lnTo>
                <a:cubicBezTo>
                  <a:pt x="20166" y="1272"/>
                  <a:pt x="19363" y="0"/>
                  <a:pt x="18373" y="0"/>
                </a:cubicBezTo>
                <a:lnTo>
                  <a:pt x="1793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ADD: 변동성 저하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" grpId="1" animBg="1" advAuto="0"/>
      <p:bldP spid="602" grpId="2" animBg="1" advAuto="0"/>
      <p:bldP spid="604" grpId="3" animBg="1" advAuto="0"/>
      <p:bldP spid="605" grpId="4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비교기준의 변화(∞→500)에 따른 변동성 변화"/>
          <p:cNvSpPr txBox="1">
            <a:spLocks noGrp="1"/>
          </p:cNvSpPr>
          <p:nvPr>
            <p:ph type="title"/>
          </p:nvPr>
        </p:nvSpPr>
        <p:spPr>
          <a:xfrm>
            <a:off x="1009650" y="247650"/>
            <a:ext cx="10464800" cy="24765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560831">
              <a:lnSpc>
                <a:spcPts val="9200"/>
              </a:lnSpc>
              <a:spcBef>
                <a:spcPts val="200"/>
              </a:spcBef>
              <a:tabLst>
                <a:tab pos="1168400" algn="l"/>
              </a:tabLst>
              <a:defRPr sz="7679"/>
            </a:lvl1pPr>
          </a:lstStyle>
          <a:p>
            <a:r>
              <a:rPr dirty="0" err="1"/>
              <a:t>비교기준의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(∞→500)</a:t>
            </a:r>
            <a:r>
              <a:rPr dirty="0" err="1"/>
              <a:t>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변동성</a:t>
            </a:r>
            <a:r>
              <a:rPr dirty="0"/>
              <a:t> </a:t>
            </a:r>
            <a:r>
              <a:rPr dirty="0" err="1"/>
              <a:t>변화</a:t>
            </a:r>
            <a:endParaRPr dirty="0"/>
          </a:p>
        </p:txBody>
      </p:sp>
      <p:pic>
        <p:nvPicPr>
          <p:cNvPr id="608" name="droppedImage.pdf" descr="droppedImage.pdf"/>
          <p:cNvPicPr>
            <a:picLocks noChangeAspect="1"/>
          </p:cNvPicPr>
          <p:nvPr/>
        </p:nvPicPr>
        <p:blipFill>
          <a:blip r:embed="rId2"/>
          <a:srcRect r="51243"/>
          <a:stretch>
            <a:fillRect/>
          </a:stretch>
        </p:blipFill>
        <p:spPr>
          <a:xfrm>
            <a:off x="381000" y="3302000"/>
            <a:ext cx="4483100" cy="589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9" name="droppedImage.pdf" descr="droppedImage.pdf"/>
          <p:cNvPicPr>
            <a:picLocks noChangeAspect="1"/>
          </p:cNvPicPr>
          <p:nvPr/>
        </p:nvPicPr>
        <p:blipFill>
          <a:blip r:embed="rId3"/>
          <a:srcRect r="51119"/>
          <a:stretch>
            <a:fillRect/>
          </a:stretch>
        </p:blipFill>
        <p:spPr>
          <a:xfrm>
            <a:off x="5753100" y="3251200"/>
            <a:ext cx="4572000" cy="5994400"/>
          </a:xfrm>
          <a:prstGeom prst="rect">
            <a:avLst/>
          </a:prstGeom>
          <a:ln w="12700">
            <a:miter lim="400000"/>
          </a:ln>
        </p:spPr>
      </p:pic>
      <p:sp>
        <p:nvSpPr>
          <p:cNvPr id="610" name="저하"/>
          <p:cNvSpPr/>
          <p:nvPr/>
        </p:nvSpPr>
        <p:spPr>
          <a:xfrm>
            <a:off x="4749800" y="4241800"/>
            <a:ext cx="4699000" cy="1270000"/>
          </a:xfrm>
          <a:prstGeom prst="rightArrow">
            <a:avLst>
              <a:gd name="adj1" fmla="val 56000"/>
              <a:gd name="adj2" fmla="val 43000"/>
            </a:avLst>
          </a:pr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저하</a:t>
            </a:r>
          </a:p>
        </p:txBody>
      </p:sp>
      <p:sp>
        <p:nvSpPr>
          <p:cNvPr id="611" name="저하"/>
          <p:cNvSpPr/>
          <p:nvPr/>
        </p:nvSpPr>
        <p:spPr>
          <a:xfrm>
            <a:off x="4749800" y="5511800"/>
            <a:ext cx="4699000" cy="1270000"/>
          </a:xfrm>
          <a:prstGeom prst="rightArrow">
            <a:avLst>
              <a:gd name="adj1" fmla="val 56000"/>
              <a:gd name="adj2" fmla="val 43000"/>
            </a:avLst>
          </a:pr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저하</a:t>
            </a:r>
          </a:p>
        </p:txBody>
      </p:sp>
      <p:sp>
        <p:nvSpPr>
          <p:cNvPr id="612" name="소폭저하"/>
          <p:cNvSpPr/>
          <p:nvPr/>
        </p:nvSpPr>
        <p:spPr>
          <a:xfrm>
            <a:off x="4749800" y="6832600"/>
            <a:ext cx="4699000" cy="1270000"/>
          </a:xfrm>
          <a:prstGeom prst="rightArrow">
            <a:avLst>
              <a:gd name="adj1" fmla="val 56000"/>
              <a:gd name="adj2" fmla="val 43000"/>
            </a:avLst>
          </a:pr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소폭저하</a:t>
            </a:r>
          </a:p>
        </p:txBody>
      </p:sp>
      <p:sp>
        <p:nvSpPr>
          <p:cNvPr id="613" name="대폭상승"/>
          <p:cNvSpPr/>
          <p:nvPr/>
        </p:nvSpPr>
        <p:spPr>
          <a:xfrm>
            <a:off x="4749800" y="7975600"/>
            <a:ext cx="4699000" cy="1270000"/>
          </a:xfrm>
          <a:prstGeom prst="rightArrow">
            <a:avLst>
              <a:gd name="adj1" fmla="val 56000"/>
              <a:gd name="adj2" fmla="val 43000"/>
            </a:avLst>
          </a:pr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대폭상승</a:t>
            </a:r>
          </a:p>
        </p:txBody>
      </p:sp>
      <p:sp>
        <p:nvSpPr>
          <p:cNvPr id="614" name="ADD: 정보가 있을 경우의 변동성이 더 작음"/>
          <p:cNvSpPr/>
          <p:nvPr/>
        </p:nvSpPr>
        <p:spPr>
          <a:xfrm>
            <a:off x="9702800" y="2628900"/>
            <a:ext cx="3327400" cy="1714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8400"/>
                </a:moveTo>
                <a:lnTo>
                  <a:pt x="0" y="3200"/>
                </a:lnTo>
                <a:cubicBezTo>
                  <a:pt x="0" y="1433"/>
                  <a:pt x="738" y="0"/>
                  <a:pt x="1649" y="0"/>
                </a:cubicBezTo>
                <a:lnTo>
                  <a:pt x="19951" y="0"/>
                </a:lnTo>
                <a:cubicBezTo>
                  <a:pt x="20862" y="0"/>
                  <a:pt x="21600" y="1433"/>
                  <a:pt x="21600" y="3200"/>
                </a:cubicBezTo>
                <a:lnTo>
                  <a:pt x="21600" y="18400"/>
                </a:lnTo>
                <a:cubicBezTo>
                  <a:pt x="21600" y="20167"/>
                  <a:pt x="20862" y="21600"/>
                  <a:pt x="19951" y="21600"/>
                </a:cubicBezTo>
                <a:lnTo>
                  <a:pt x="1649" y="21600"/>
                </a:lnTo>
                <a:cubicBezTo>
                  <a:pt x="738" y="21600"/>
                  <a:pt x="0" y="20167"/>
                  <a:pt x="0" y="18400"/>
                </a:cubicBez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ADD: 정보가 있을 경우의 변동성이 더 작음</a:t>
            </a:r>
          </a:p>
        </p:txBody>
      </p:sp>
      <p:sp>
        <p:nvSpPr>
          <p:cNvPr id="615" name="PROP: 정보가 있을 경우의 변동성이 더 큼"/>
          <p:cNvSpPr/>
          <p:nvPr/>
        </p:nvSpPr>
        <p:spPr>
          <a:xfrm>
            <a:off x="10172700" y="5702300"/>
            <a:ext cx="2603500" cy="1905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29" y="0"/>
                </a:moveTo>
                <a:cubicBezTo>
                  <a:pt x="1365" y="0"/>
                  <a:pt x="421" y="1289"/>
                  <a:pt x="421" y="2880"/>
                </a:cubicBezTo>
                <a:lnTo>
                  <a:pt x="421" y="15840"/>
                </a:lnTo>
                <a:cubicBezTo>
                  <a:pt x="421" y="16267"/>
                  <a:pt x="494" y="16668"/>
                  <a:pt x="616" y="17032"/>
                </a:cubicBezTo>
                <a:lnTo>
                  <a:pt x="0" y="21600"/>
                </a:lnTo>
                <a:lnTo>
                  <a:pt x="2654" y="18720"/>
                </a:lnTo>
                <a:lnTo>
                  <a:pt x="19493" y="18720"/>
                </a:lnTo>
                <a:cubicBezTo>
                  <a:pt x="20657" y="18720"/>
                  <a:pt x="21600" y="17431"/>
                  <a:pt x="21600" y="15840"/>
                </a:cubicBezTo>
                <a:lnTo>
                  <a:pt x="21600" y="2880"/>
                </a:lnTo>
                <a:cubicBezTo>
                  <a:pt x="21600" y="1289"/>
                  <a:pt x="20657" y="0"/>
                  <a:pt x="19493" y="0"/>
                </a:cubicBezTo>
                <a:lnTo>
                  <a:pt x="2529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PROP: 정보가 있을 경우의 변동성이 더 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" grpId="1" animBg="1" advAuto="0"/>
      <p:bldP spid="611" grpId="2" animBg="1" advAuto="0"/>
      <p:bldP spid="612" grpId="3" animBg="1" advAuto="0"/>
      <p:bldP spid="613" grpId="4" animBg="1" advAuto="0"/>
      <p:bldP spid="614" grpId="5" animBg="1" advAuto="0"/>
      <p:bldP spid="615" grpId="6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파산 통계"/>
          <p:cNvSpPr txBox="1">
            <a:spLocks noGrp="1"/>
          </p:cNvSpPr>
          <p:nvPr>
            <p:ph type="title"/>
          </p:nvPr>
        </p:nvSpPr>
        <p:spPr>
          <a:xfrm>
            <a:off x="1431561" y="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파산</a:t>
            </a:r>
            <a:r>
              <a:rPr dirty="0"/>
              <a:t> </a:t>
            </a:r>
            <a:r>
              <a:rPr dirty="0" err="1"/>
              <a:t>통계</a:t>
            </a:r>
            <a:endParaRPr dirty="0"/>
          </a:p>
        </p:txBody>
      </p:sp>
      <p:pic>
        <p:nvPicPr>
          <p:cNvPr id="618" name="droppedImage.pdf" descr="droppedImage.pdf"/>
          <p:cNvPicPr>
            <a:picLocks noChangeAspect="1"/>
          </p:cNvPicPr>
          <p:nvPr/>
        </p:nvPicPr>
        <p:blipFill>
          <a:blip r:embed="rId2"/>
          <a:srcRect r="51104"/>
          <a:stretch>
            <a:fillRect/>
          </a:stretch>
        </p:blipFill>
        <p:spPr>
          <a:xfrm>
            <a:off x="7400561" y="3164591"/>
            <a:ext cx="4495800" cy="589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9" name="droppedImage.pdf" descr="droppedImage.pdf"/>
          <p:cNvPicPr>
            <a:picLocks noChangeAspect="1"/>
          </p:cNvPicPr>
          <p:nvPr/>
        </p:nvPicPr>
        <p:blipFill>
          <a:blip r:embed="rId3"/>
          <a:srcRect r="51104"/>
          <a:stretch>
            <a:fillRect/>
          </a:stretch>
        </p:blipFill>
        <p:spPr>
          <a:xfrm>
            <a:off x="900035" y="3164591"/>
            <a:ext cx="4495800" cy="589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20" name="Arrow"/>
          <p:cNvSpPr/>
          <p:nvPr/>
        </p:nvSpPr>
        <p:spPr>
          <a:xfrm>
            <a:off x="5867400" y="5327650"/>
            <a:ext cx="1270000" cy="1270000"/>
          </a:xfrm>
          <a:prstGeom prst="rightArrow">
            <a:avLst>
              <a:gd name="adj1" fmla="val 32000"/>
              <a:gd name="adj2" fmla="val 44000"/>
            </a:avLst>
          </a:pr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전략추이"/>
          <p:cNvSpPr txBox="1">
            <a:spLocks noGrp="1"/>
          </p:cNvSpPr>
          <p:nvPr>
            <p:ph type="title"/>
          </p:nvPr>
        </p:nvSpPr>
        <p:spPr>
          <a:xfrm>
            <a:off x="419100" y="50800"/>
            <a:ext cx="1518170" cy="247650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전략추이</a:t>
            </a:r>
            <a:endParaRPr dirty="0"/>
          </a:p>
        </p:txBody>
      </p:sp>
      <p:pic>
        <p:nvPicPr>
          <p:cNvPr id="623" name="Screen shot 2011-11-26 at 3.49.20 AM.jpg" descr="Screen shot 2011-11-26 at 3.49.20 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" y="2993225"/>
            <a:ext cx="9029701" cy="654845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pic>
        <p:nvPicPr>
          <p:cNvPr id="624" name="Screen shot 2011-11-26 at 6.22.06 AM.jpg" descr="Screen shot 2011-11-26 at 6.22.06 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588" y="50800"/>
            <a:ext cx="9034612" cy="651510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  <p:sp>
        <p:nvSpPr>
          <p:cNvPr id="625" name="PROP: 전략간 경쟁의 변동성이 더 많이 관찰됨"/>
          <p:cNvSpPr/>
          <p:nvPr/>
        </p:nvSpPr>
        <p:spPr>
          <a:xfrm>
            <a:off x="419100" y="3987800"/>
            <a:ext cx="4660900" cy="1930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7" y="0"/>
                </a:moveTo>
                <a:cubicBezTo>
                  <a:pt x="527" y="0"/>
                  <a:pt x="0" y="1272"/>
                  <a:pt x="0" y="2842"/>
                </a:cubicBezTo>
                <a:lnTo>
                  <a:pt x="0" y="16768"/>
                </a:lnTo>
                <a:cubicBezTo>
                  <a:pt x="0" y="18338"/>
                  <a:pt x="527" y="19611"/>
                  <a:pt x="1177" y="19611"/>
                </a:cubicBezTo>
                <a:lnTo>
                  <a:pt x="14243" y="19611"/>
                </a:lnTo>
                <a:cubicBezTo>
                  <a:pt x="14560" y="19611"/>
                  <a:pt x="14848" y="19308"/>
                  <a:pt x="15060" y="18816"/>
                </a:cubicBezTo>
                <a:lnTo>
                  <a:pt x="21600" y="21600"/>
                </a:lnTo>
                <a:lnTo>
                  <a:pt x="15420" y="16040"/>
                </a:lnTo>
                <a:lnTo>
                  <a:pt x="15420" y="2842"/>
                </a:lnTo>
                <a:cubicBezTo>
                  <a:pt x="15420" y="1272"/>
                  <a:pt x="14893" y="0"/>
                  <a:pt x="14243" y="0"/>
                </a:cubicBezTo>
                <a:lnTo>
                  <a:pt x="1177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PROP: 전략간 경쟁의 변동성이 더 많이 관찰됨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" grpId="1" animBg="1" advAuto="0"/>
      <p:bldP spid="624" grpId="2" animBg="1" advAuto="0"/>
      <p:bldP spid="625" grpId="3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최종기 부의 분포…"/>
          <p:cNvSpPr txBox="1">
            <a:spLocks noGrp="1"/>
          </p:cNvSpPr>
          <p:nvPr>
            <p:ph type="title"/>
          </p:nvPr>
        </p:nvSpPr>
        <p:spPr>
          <a:xfrm>
            <a:off x="1270000" y="-45720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t>최종기 부의 분포</a:t>
            </a:r>
          </a:p>
          <a:p>
            <a:pPr>
              <a:lnSpc>
                <a:spcPts val="5700"/>
              </a:lnSpc>
              <a:defRPr sz="4800"/>
            </a:pPr>
            <a:r>
              <a:t>(dash: normal distribution)</a:t>
            </a:r>
          </a:p>
        </p:txBody>
      </p:sp>
      <p:pic>
        <p:nvPicPr>
          <p:cNvPr id="628" name="kdensity_aggregated_wealth.pdf" descr="kdensity_aggregated_wealt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2717800"/>
            <a:ext cx="9499600" cy="6922190"/>
          </a:xfrm>
          <a:prstGeom prst="rect">
            <a:avLst/>
          </a:prstGeom>
          <a:ln w="12700">
            <a:miter lim="400000"/>
          </a:ln>
        </p:spPr>
      </p:pic>
      <p:sp>
        <p:nvSpPr>
          <p:cNvPr id="629" name="PROP: 수평에 가까운 두꺼운 분포 구간 존재"/>
          <p:cNvSpPr/>
          <p:nvPr/>
        </p:nvSpPr>
        <p:spPr>
          <a:xfrm>
            <a:off x="0" y="6070600"/>
            <a:ext cx="3746500" cy="2438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64" y="0"/>
                </a:moveTo>
                <a:cubicBezTo>
                  <a:pt x="656" y="0"/>
                  <a:pt x="0" y="1007"/>
                  <a:pt x="0" y="2250"/>
                </a:cubicBezTo>
                <a:lnTo>
                  <a:pt x="0" y="13275"/>
                </a:lnTo>
                <a:cubicBezTo>
                  <a:pt x="0" y="14518"/>
                  <a:pt x="656" y="15525"/>
                  <a:pt x="1464" y="15525"/>
                </a:cubicBezTo>
                <a:lnTo>
                  <a:pt x="17719" y="15525"/>
                </a:lnTo>
                <a:cubicBezTo>
                  <a:pt x="17755" y="15525"/>
                  <a:pt x="17788" y="15515"/>
                  <a:pt x="17822" y="15511"/>
                </a:cubicBezTo>
                <a:lnTo>
                  <a:pt x="21600" y="21600"/>
                </a:lnTo>
                <a:lnTo>
                  <a:pt x="19067" y="14157"/>
                </a:lnTo>
                <a:cubicBezTo>
                  <a:pt x="19142" y="13886"/>
                  <a:pt x="19184" y="13588"/>
                  <a:pt x="19184" y="13275"/>
                </a:cubicBezTo>
                <a:lnTo>
                  <a:pt x="19184" y="2250"/>
                </a:lnTo>
                <a:cubicBezTo>
                  <a:pt x="19184" y="1007"/>
                  <a:pt x="18528" y="0"/>
                  <a:pt x="17719" y="0"/>
                </a:cubicBezTo>
                <a:lnTo>
                  <a:pt x="1464" y="0"/>
                </a:lnTo>
                <a:close/>
              </a:path>
            </a:pathLst>
          </a:custGeom>
          <a:solidFill>
            <a:srgbClr val="74A7FE"/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lvl1pPr>
          </a:lstStyle>
          <a:p>
            <a:r>
              <a:t>PROP: 수평에 가까운 두꺼운 분포 구간 존재</a:t>
            </a:r>
          </a:p>
        </p:txBody>
      </p:sp>
      <p:sp>
        <p:nvSpPr>
          <p:cNvPr id="630" name="Oval"/>
          <p:cNvSpPr/>
          <p:nvPr/>
        </p:nvSpPr>
        <p:spPr>
          <a:xfrm>
            <a:off x="2171700" y="7874000"/>
            <a:ext cx="2806700" cy="1270000"/>
          </a:xfrm>
          <a:prstGeom prst="ellipse">
            <a:avLst/>
          </a:prstGeom>
          <a:solidFill>
            <a:srgbClr val="FF2600">
              <a:alpha val="30000"/>
            </a:srgbClr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631" name="Oval"/>
          <p:cNvSpPr/>
          <p:nvPr/>
        </p:nvSpPr>
        <p:spPr>
          <a:xfrm>
            <a:off x="6743700" y="7874000"/>
            <a:ext cx="2514600" cy="1270000"/>
          </a:xfrm>
          <a:prstGeom prst="ellipse">
            <a:avLst/>
          </a:prstGeom>
          <a:solidFill>
            <a:srgbClr val="FF2600">
              <a:alpha val="30000"/>
            </a:srgbClr>
          </a:solidFill>
          <a:ln w="25400">
            <a:miter lim="400000"/>
          </a:ln>
          <a:effectLst>
            <a:outerShdw blurRad="127000" dir="2700000" rotWithShape="0">
              <a:srgbClr val="86A4E9">
                <a:alpha val="75000"/>
              </a:srgbClr>
            </a:outerShdw>
          </a:effectLst>
        </p:spPr>
        <p:txBody>
          <a:bodyPr lIns="38100" tIns="38100" rIns="38100" bIns="38100" anchor="ctr"/>
          <a:lstStyle/>
          <a:p>
            <a:pPr indent="0">
              <a:spcBef>
                <a:spcPts val="0"/>
              </a:spcBef>
              <a:tabLst>
                <a:tab pos="1066800" algn="l"/>
              </a:tabLst>
              <a:defRPr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" grpId="1" animBg="1" advAuto="0"/>
      <p:bldP spid="630" grpId="2" animBg="1" advAuto="0"/>
      <p:bldP spid="631" grpId="3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9" name="Rectangle 63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3004797" cy="22623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656326" cy="2262388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656318" y="-1"/>
            <a:ext cx="4348478" cy="2262388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73" y="-1"/>
            <a:ext cx="12514822" cy="227190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3" name="결론"/>
          <p:cNvSpPr txBox="1">
            <a:spLocks noGrp="1"/>
          </p:cNvSpPr>
          <p:nvPr>
            <p:ph type="title"/>
          </p:nvPr>
        </p:nvSpPr>
        <p:spPr>
          <a:xfrm>
            <a:off x="1463038" y="418898"/>
            <a:ext cx="10555682" cy="1470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결론</a:t>
            </a:r>
          </a:p>
        </p:txBody>
      </p:sp>
      <p:sp>
        <p:nvSpPr>
          <p:cNvPr id="634" name="투자게임으로 구현한 상호의존적 기대상황…"/>
          <p:cNvSpPr txBox="1">
            <a:spLocks noGrp="1"/>
          </p:cNvSpPr>
          <p:nvPr>
            <p:ph type="body" sz="half" idx="1"/>
          </p:nvPr>
        </p:nvSpPr>
        <p:spPr>
          <a:xfrm>
            <a:off x="1463038" y="3296991"/>
            <a:ext cx="10372300" cy="5238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76617" indent="-228600" defTabSz="914400">
              <a:lnSpc>
                <a:spcPct val="90000"/>
              </a:lnSpc>
              <a:spcBef>
                <a:spcPts val="2300"/>
              </a:spcBef>
              <a:tabLst>
                <a:tab pos="1333500" algn="l"/>
              </a:tabLst>
              <a:defRPr sz="3680"/>
            </a:pPr>
            <a:r>
              <a:rPr lang="en-US" sz="2500">
                <a:latin typeface="+mn-lt"/>
                <a:ea typeface="+mn-ea"/>
                <a:cs typeface="+mn-cs"/>
              </a:rPr>
              <a:t>투자게임으로 구현한 상호의존적 기대상황</a:t>
            </a:r>
          </a:p>
          <a:p>
            <a:pPr marL="889588" lvl="1" indent="-228600" defTabSz="914400">
              <a:lnSpc>
                <a:spcPct val="90000"/>
              </a:lnSpc>
              <a:spcBef>
                <a:spcPts val="2300"/>
              </a:spcBef>
              <a:tabLst>
                <a:tab pos="1727200" algn="l"/>
              </a:tabLst>
              <a:defRPr sz="3128"/>
            </a:pPr>
            <a:r>
              <a:rPr lang="en-US" sz="2500">
                <a:latin typeface="+mn-lt"/>
                <a:ea typeface="+mn-ea"/>
                <a:cs typeface="+mn-cs"/>
              </a:rPr>
              <a:t>전통적 접근방식(ADD): 정보의 편익 존재</a:t>
            </a:r>
          </a:p>
          <a:p>
            <a:pPr marL="1190875" lvl="2" indent="-228600" defTabSz="914400">
              <a:lnSpc>
                <a:spcPct val="90000"/>
              </a:lnSpc>
              <a:spcBef>
                <a:spcPts val="2300"/>
              </a:spcBef>
              <a:tabLst>
                <a:tab pos="2120900" algn="l"/>
              </a:tabLst>
              <a:defRPr sz="2944"/>
            </a:pPr>
            <a:r>
              <a:rPr lang="en-US" sz="2500">
                <a:latin typeface="+mn-lt"/>
                <a:ea typeface="+mn-ea"/>
                <a:cs typeface="+mn-cs"/>
              </a:rPr>
              <a:t>정보가 위험자산의 투자비율 변동성을 감소시킴</a:t>
            </a:r>
          </a:p>
          <a:p>
            <a:pPr marL="889588" lvl="1" indent="-228600" defTabSz="914400">
              <a:lnSpc>
                <a:spcPct val="90000"/>
              </a:lnSpc>
              <a:spcBef>
                <a:spcPts val="2300"/>
              </a:spcBef>
              <a:tabLst>
                <a:tab pos="1727200" algn="l"/>
              </a:tabLst>
              <a:defRPr sz="3128"/>
            </a:pPr>
            <a:r>
              <a:rPr lang="en-US" sz="2500">
                <a:latin typeface="+mn-lt"/>
                <a:ea typeface="+mn-ea"/>
                <a:cs typeface="+mn-cs"/>
              </a:rPr>
              <a:t>비례적 수익방식(PROP): 정보의 비편익 존재</a:t>
            </a:r>
          </a:p>
          <a:p>
            <a:pPr marL="1190875" lvl="2" indent="-228600" defTabSz="914400">
              <a:lnSpc>
                <a:spcPct val="90000"/>
              </a:lnSpc>
              <a:spcBef>
                <a:spcPts val="2300"/>
              </a:spcBef>
              <a:tabLst>
                <a:tab pos="2120900" algn="l"/>
              </a:tabLst>
              <a:defRPr sz="2944"/>
            </a:pPr>
            <a:r>
              <a:rPr lang="en-US" sz="2500">
                <a:latin typeface="+mn-lt"/>
                <a:ea typeface="+mn-ea"/>
                <a:cs typeface="+mn-cs"/>
              </a:rPr>
              <a:t>정보가 위험자산의 투자비율의 변동성을 증가시킴</a:t>
            </a:r>
          </a:p>
          <a:p>
            <a:pPr marL="576617" indent="-228600" defTabSz="914400">
              <a:lnSpc>
                <a:spcPct val="90000"/>
              </a:lnSpc>
              <a:spcBef>
                <a:spcPts val="2300"/>
              </a:spcBef>
              <a:tabLst>
                <a:tab pos="1333500" algn="l"/>
              </a:tabLst>
              <a:defRPr sz="3680"/>
            </a:pPr>
            <a:r>
              <a:rPr lang="en-US" sz="2500">
                <a:latin typeface="+mn-lt"/>
                <a:ea typeface="+mn-ea"/>
                <a:cs typeface="+mn-cs"/>
              </a:rPr>
              <a:t>변동성의 차이에도 불구하고, 최종 보상의 측면에서는 큰 차이 없음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" grpId="1" build="p" bldLvl="5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2" name="Rectangle 64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00283" y="1901099"/>
            <a:ext cx="9753600" cy="595140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547635" y="1553374"/>
            <a:ext cx="9025719" cy="594781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86038" y="5000501"/>
            <a:ext cx="3558370" cy="594781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672536" y="2128846"/>
            <a:ext cx="9753601" cy="549590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2" name="Oval 651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05638" y="2372672"/>
            <a:ext cx="6141586" cy="4606190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6" name="상호의존적 기대하에서의 정보의 역할"/>
          <p:cNvSpPr txBox="1">
            <a:spLocks noGrp="1"/>
          </p:cNvSpPr>
          <p:nvPr>
            <p:ph type="title"/>
          </p:nvPr>
        </p:nvSpPr>
        <p:spPr>
          <a:xfrm>
            <a:off x="881489" y="834638"/>
            <a:ext cx="4512106" cy="48177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defTabSz="560831">
              <a:lnSpc>
                <a:spcPts val="9200"/>
              </a:lnSpc>
              <a:spcBef>
                <a:spcPts val="200"/>
              </a:spcBef>
              <a:tabLst>
                <a:tab pos="1168400" algn="l"/>
              </a:tabLst>
              <a:defRPr sz="7679"/>
            </a:lvl1pPr>
          </a:lstStyle>
          <a:p>
            <a:pPr algn="r" defTabSz="914400">
              <a:lnSpc>
                <a:spcPct val="90000"/>
              </a:lnSpc>
              <a:spcBef>
                <a:spcPct val="0"/>
              </a:spcBef>
            </a:pPr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상호의존적 기대하에서의 정보의 역할</a:t>
            </a:r>
          </a:p>
        </p:txBody>
      </p:sp>
      <p:sp>
        <p:nvSpPr>
          <p:cNvPr id="637" name="상호의존적 기대상황에서 추가적 참정보가 미시적 효율성 달성에 도움을 줄 수 있지만…"/>
          <p:cNvSpPr txBox="1">
            <a:spLocks noGrp="1"/>
          </p:cNvSpPr>
          <p:nvPr>
            <p:ph type="body" sz="half" idx="1"/>
          </p:nvPr>
        </p:nvSpPr>
        <p:spPr>
          <a:xfrm>
            <a:off x="6936701" y="923704"/>
            <a:ext cx="5186611" cy="7887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상호의존적 기대상황에서 추가적 참정보가 미시적 효율성 달성에 도움을 줄 수 있지만 </a:t>
            </a:r>
          </a:p>
          <a:p>
            <a:pPr indent="-228600" defTabSz="914400">
              <a:lnSpc>
                <a:spcPct val="90000"/>
              </a:lnSpc>
            </a:pPr>
            <a:r>
              <a:rPr lang="en-US" sz="2500">
                <a:latin typeface="+mn-lt"/>
                <a:ea typeface="+mn-ea"/>
                <a:cs typeface="+mn-cs"/>
              </a:rPr>
              <a:t>거시적 변동성을 증가시켜 효율성을 저하시킬 수도 있음을 시사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" grpId="1" build="p" bldLvl="5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5" name="Rectangle 64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800" cy="97536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3004797" cy="22623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656326" cy="2262388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656318" y="-1"/>
            <a:ext cx="4348478" cy="2262388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973" y="-1"/>
            <a:ext cx="12514822" cy="2271904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9" name="과제"/>
          <p:cNvSpPr txBox="1">
            <a:spLocks noGrp="1"/>
          </p:cNvSpPr>
          <p:nvPr>
            <p:ph type="title"/>
          </p:nvPr>
        </p:nvSpPr>
        <p:spPr>
          <a:xfrm>
            <a:off x="1463038" y="418898"/>
            <a:ext cx="10555682" cy="1470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5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과제</a:t>
            </a:r>
          </a:p>
        </p:txBody>
      </p:sp>
      <p:sp>
        <p:nvSpPr>
          <p:cNvPr id="640" name="전략셋 - 변동성 관계 검정…"/>
          <p:cNvSpPr txBox="1">
            <a:spLocks noGrp="1"/>
          </p:cNvSpPr>
          <p:nvPr>
            <p:ph type="body" sz="half" idx="1"/>
          </p:nvPr>
        </p:nvSpPr>
        <p:spPr>
          <a:xfrm>
            <a:off x="1463038" y="3296991"/>
            <a:ext cx="10372300" cy="5238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539012" indent="-228600" defTabSz="914400">
              <a:lnSpc>
                <a:spcPct val="90000"/>
              </a:lnSpc>
              <a:spcBef>
                <a:spcPts val="2200"/>
              </a:spcBef>
              <a:tabLst>
                <a:tab pos="1244600" algn="l"/>
              </a:tabLst>
              <a:defRPr sz="3440"/>
            </a:pPr>
            <a:r>
              <a:rPr lang="en-US" sz="2500">
                <a:latin typeface="+mn-lt"/>
                <a:ea typeface="+mn-ea"/>
                <a:cs typeface="+mn-cs"/>
              </a:rPr>
              <a:t>전략셋 - 변동성 관계 검정</a:t>
            </a:r>
          </a:p>
          <a:p>
            <a:pPr marL="831571" lvl="1" indent="-228600" defTabSz="914400">
              <a:lnSpc>
                <a:spcPct val="90000"/>
              </a:lnSpc>
              <a:spcBef>
                <a:spcPts val="2200"/>
              </a:spcBef>
              <a:tabLst>
                <a:tab pos="1612900" algn="l"/>
              </a:tabLst>
              <a:defRPr sz="2924"/>
            </a:pPr>
            <a:r>
              <a:rPr lang="en-US" sz="2500">
                <a:latin typeface="+mn-lt"/>
                <a:ea typeface="+mn-ea"/>
                <a:cs typeface="+mn-cs"/>
              </a:rPr>
              <a:t>Challet et al.(2005): 전략셋의 범위가 클경우 정보를 통한 예측가능성 저하</a:t>
            </a:r>
          </a:p>
          <a:p>
            <a:pPr marL="831571" lvl="1" indent="-228600" defTabSz="914400">
              <a:lnSpc>
                <a:spcPct val="90000"/>
              </a:lnSpc>
              <a:spcBef>
                <a:spcPts val="2200"/>
              </a:spcBef>
              <a:tabLst>
                <a:tab pos="1612900" algn="l"/>
              </a:tabLst>
              <a:defRPr sz="2924"/>
            </a:pPr>
            <a:r>
              <a:rPr lang="en-US" sz="2500">
                <a:latin typeface="+mn-lt"/>
                <a:ea typeface="+mn-ea"/>
                <a:cs typeface="+mn-cs"/>
              </a:rPr>
              <a:t>정보그룹과 비정보그룹간 전략셋의 크기가 다름</a:t>
            </a:r>
          </a:p>
          <a:p>
            <a:pPr marL="539012" indent="-228600" defTabSz="914400">
              <a:lnSpc>
                <a:spcPct val="90000"/>
              </a:lnSpc>
              <a:spcBef>
                <a:spcPts val="2200"/>
              </a:spcBef>
              <a:tabLst>
                <a:tab pos="1244600" algn="l"/>
              </a:tabLst>
              <a:defRPr sz="3440"/>
            </a:pPr>
            <a:r>
              <a:rPr lang="en-US" sz="2500">
                <a:latin typeface="+mn-lt"/>
                <a:ea typeface="+mn-ea"/>
                <a:cs typeface="+mn-cs"/>
              </a:rPr>
              <a:t>정보를 이용하는 전략의 빈약성</a:t>
            </a:r>
          </a:p>
          <a:p>
            <a:pPr marL="831571" lvl="1" indent="-228600" defTabSz="914400">
              <a:lnSpc>
                <a:spcPct val="90000"/>
              </a:lnSpc>
              <a:spcBef>
                <a:spcPts val="2200"/>
              </a:spcBef>
              <a:tabLst>
                <a:tab pos="1612900" algn="l"/>
              </a:tabLst>
              <a:defRPr sz="2924"/>
            </a:pPr>
            <a:r>
              <a:rPr lang="en-US" sz="2500">
                <a:latin typeface="+mn-lt"/>
                <a:ea typeface="+mn-ea"/>
                <a:cs typeface="+mn-cs"/>
              </a:rPr>
              <a:t>단순 선형 시간추세를 통한 추정의 확장 필요</a:t>
            </a:r>
          </a:p>
          <a:p>
            <a:pPr marL="1113209" lvl="2" indent="-228600" defTabSz="914400">
              <a:lnSpc>
                <a:spcPct val="90000"/>
              </a:lnSpc>
              <a:spcBef>
                <a:spcPts val="2200"/>
              </a:spcBef>
              <a:tabLst>
                <a:tab pos="1981200" algn="l"/>
              </a:tabLst>
              <a:defRPr sz="2752"/>
            </a:pPr>
            <a:r>
              <a:rPr lang="en-US" sz="2500">
                <a:latin typeface="+mn-lt"/>
                <a:ea typeface="+mn-ea"/>
                <a:cs typeface="+mn-cs"/>
              </a:rPr>
              <a:t>AR, Kalman Filter, Bayesian update process … </a:t>
            </a:r>
          </a:p>
          <a:p>
            <a:pPr marL="831571" lvl="1" indent="-228600" defTabSz="914400">
              <a:lnSpc>
                <a:spcPct val="90000"/>
              </a:lnSpc>
              <a:spcBef>
                <a:spcPts val="2200"/>
              </a:spcBef>
              <a:tabLst>
                <a:tab pos="1612900" algn="l"/>
              </a:tabLst>
              <a:defRPr sz="2924"/>
            </a:pPr>
            <a:r>
              <a:rPr lang="en-US" sz="2500">
                <a:latin typeface="+mn-lt"/>
                <a:ea typeface="+mn-ea"/>
                <a:cs typeface="+mn-cs"/>
              </a:rPr>
              <a:t>새로운 전략 구조의 창발 부재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6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6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0" grpId="1" build="p" bldLvl="5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참고문헌"/>
          <p:cNvSpPr txBox="1">
            <a:spLocks noGrp="1"/>
          </p:cNvSpPr>
          <p:nvPr>
            <p:ph type="title"/>
          </p:nvPr>
        </p:nvSpPr>
        <p:spPr>
          <a:xfrm>
            <a:off x="1270000" y="-457200"/>
            <a:ext cx="10464800" cy="2476500"/>
          </a:xfrm>
          <a:prstGeom prst="rect">
            <a:avLst/>
          </a:prstGeom>
        </p:spPr>
        <p:txBody>
          <a:bodyPr/>
          <a:lstStyle/>
          <a:p>
            <a:r>
              <a:t>참고문헌</a:t>
            </a:r>
          </a:p>
        </p:txBody>
      </p:sp>
      <p:sp>
        <p:nvSpPr>
          <p:cNvPr id="643" name="Arthur, W. (1994). Inductive Reasoning and Bounded Rationality. The American Economic Review, 84(2):406–411.…"/>
          <p:cNvSpPr txBox="1">
            <a:spLocks noGrp="1"/>
          </p:cNvSpPr>
          <p:nvPr>
            <p:ph type="body" sz="half" idx="1"/>
          </p:nvPr>
        </p:nvSpPr>
        <p:spPr>
          <a:xfrm>
            <a:off x="1943100" y="1892300"/>
            <a:ext cx="9118600" cy="7505700"/>
          </a:xfrm>
          <a:prstGeom prst="rect">
            <a:avLst/>
          </a:prstGeom>
        </p:spPr>
        <p:txBody>
          <a:bodyPr/>
          <a:lstStyle/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Arthur, W. (1994). Inductive Reasoning and Bounded Rationality. The American Economic Review, 84(2):406–411.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Arthur, W. (1995).	Complexity in economic and financial markets. Complexity, 1(1):20–25.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Arthur, W. (1999). Complexity and the economy. Science, 284(5411):107.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Bach, L. A., Helvik, T., and Christiansen, F. B. (2006). The evolution of n-player cooperation-threshold games and ESS bifurcations. Journal of theoretical biology, 238(2):426–434.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Bosch-Domènech, A., Montalvo, J. G., Nagel, R., and Satorra, A. (2002). One, Two, (Three), Infinity, ... : Newspaper and Lab Beauty-Contest Ex- periments. The American Economic Review, 92(5):1687–1701.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Bouchaud, J. and Mezard, M. (2000). Wealth condensation in a simple model of economy. Physica a-Statistical Mechanics and Its Applications, 282:536–545. 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Bowles, S. (2004).	Microeconomics: behavior, institutions, and evolution.Princeton University Press, Princeton.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Camerer, C., Ho, T., and Chong, J. (2004). A Cognitive Hierarchy Model of Games. Quarterly Journal of Economics.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Camerer, C. and Hogarth, R. (1999). The effects of financial incentives in experiments: A review and capital-labor-production framework. Journal of Risk and Uncertainty.</a:t>
            </a:r>
          </a:p>
          <a:p>
            <a:pPr marL="275773" indent="-164013" defTabSz="257047">
              <a:lnSpc>
                <a:spcPts val="2100"/>
              </a:lnSpc>
              <a:spcBef>
                <a:spcPts val="1100"/>
              </a:spcBef>
              <a:tabLst>
                <a:tab pos="635000" algn="l"/>
              </a:tabLst>
              <a:defRPr sz="1760"/>
            </a:pPr>
            <a:r>
              <a:t>Challet, D., Marsili, M., and Zhang, Y. (2000). Modeling market mechanism with minority game. Physica a-Statistical Mechanics and Its Applications, 276:284–315.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Challet, D., Marsili, M., and Zhang, Y.-C. (2005). Minority Games: Interacting Agents in Financial Markets (Oxford Finance). Oxford University Press, USA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Challet,	D.,	Marsili,	M.,	and	Zhang,	Y.-C.	(2005). Minority Games: Interacting Agents in Financial Markets (Oxford Finance). Oxford University Press, USA.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Clauset, A., Shalizi, C. R., and Newman, M. E. J. (2009). Power-law distri- butions in empirical data. SIAM Review, pages 661–703.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Deck, C., Lee, J., and Reyes, J. (2010). Risk Taking Behavior: An Experi- mental Analysis of Individuals and Pairs. comp.uark.edu.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Eisert, J., Wilkens, M., and Lewenstein, M. (1999). Quantum Games and Quantum Strategies. Physical Review Letters, 83(15):3077–3080.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Grimm, V., Berger, U., Bastiansen, F., Eliassen, S., Ginot, V., Giske, J., Goss- Custard, J., Grand, T., Heinz, S., and Huse, G. (2006). A standard pro- tocol for describing individual-based and agent-based models. Ecological Modelling, 198(1-2):115–126.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Hanauske, M., Kunz, J., Bernius, S., and Koenig, W. (2010). Doves and hawks in economics revisited: An evolutionary quantum game theory based analy- sis of financial crises. Physica a-Statistical Mechanics and Its Applications, 389(21):5084–5102.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Issac, R. M., Walker, J. M., and Williams, A. W. (1994). Group size and the voluntary provision of public goods. Journal of Public Economics, 54:1–36.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Keynes, J. M. (1936). The general theory of employment, interest and money.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Harcourt, Brace. Nagel, R. (1995). Unraveling in guessing games: An experimental study. The American Economic Review, 85(5):1313–1326.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Rubinstein, A. (2007). Instinctive and Cognitive Reasoning: A Study of Re- sponse Times. The Economic Journal.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Selten, R. (1975). Reexamination of the perfectness concept for equilibrium points in extensive games. International journal of game theory.</a:t>
            </a:r>
          </a:p>
          <a:p>
            <a:pPr marL="256970" indent="-152830" defTabSz="239522">
              <a:lnSpc>
                <a:spcPts val="1900"/>
              </a:lnSpc>
              <a:spcBef>
                <a:spcPts val="1000"/>
              </a:spcBef>
              <a:tabLst>
                <a:tab pos="584200" algn="l"/>
              </a:tabLst>
              <a:defRPr sz="1640"/>
            </a:pPr>
            <a:r>
              <a:t>Suri, S. and Watts, D. (2011). Cooperation and Contagion in Web-Based, Networked Public Goods Experiments. PLoS ONE.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서울남산체 M"/>
        <a:ea typeface="서울남산체 M"/>
        <a:cs typeface="서울남산체 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27000" dir="2700000" rotWithShape="0">
              <a:srgbClr val="86A4E9">
                <a:alpha val="75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2600"/>
        </a:solidFill>
        <a:ln w="25400" cap="flat">
          <a:noFill/>
          <a:miter lim="400000"/>
        </a:ln>
        <a:effectLst>
          <a:outerShdw blurRad="127000" dir="2700000" rotWithShape="0">
            <a:srgbClr val="86A4E9">
              <a:alpha val="75000"/>
            </a:srgbClr>
          </a:outerShdw>
        </a:effectLst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ts val="33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>
            <a:tab pos="1066800" algn="l"/>
          </a:tabLst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ts val="3300"/>
          </a:lnSpc>
          <a:spcBef>
            <a:spcPts val="1300"/>
          </a:spcBef>
          <a:spcAft>
            <a:spcPts val="0"/>
          </a:spcAft>
          <a:buClrTx/>
          <a:buSzTx/>
          <a:buFontTx/>
          <a:buNone/>
          <a:tabLst>
            <a:tab pos="736600" algn="l"/>
          </a:tabLst>
          <a:defRPr kumimoji="0" sz="2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Light"/>
            <a:ea typeface="Helvetica Neue Light"/>
            <a:cs typeface="Helvetica Neue Light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1493</Words>
  <Application>Microsoft Macintosh PowerPoint</Application>
  <PresentationFormat>Custom</PresentationFormat>
  <Paragraphs>157</Paragraphs>
  <Slides>37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서울한강체 M</vt:lpstr>
      <vt:lpstr>Aptos</vt:lpstr>
      <vt:lpstr>Aptos Display</vt:lpstr>
      <vt:lpstr>Arial</vt:lpstr>
      <vt:lpstr>Calibri</vt:lpstr>
      <vt:lpstr>Lucida Grande</vt:lpstr>
      <vt:lpstr>Office Theme</vt:lpstr>
      <vt:lpstr>ABM for PHDG</vt:lpstr>
      <vt:lpstr>전체 구조</vt:lpstr>
      <vt:lpstr>정보 제공여부</vt:lpstr>
      <vt:lpstr>공간 구조:  토러스 격자 공간</vt:lpstr>
      <vt:lpstr>전체 과정</vt:lpstr>
      <vt:lpstr>매개변수 세팅</vt:lpstr>
      <vt:lpstr>실험모형과의 차이</vt:lpstr>
      <vt:lpstr>투자게임: 단순 시뮬레이션 모형</vt:lpstr>
      <vt:lpstr>단순 전략 가정</vt:lpstr>
      <vt:lpstr>위험자산 비율</vt:lpstr>
      <vt:lpstr>흉내내기 추가</vt:lpstr>
      <vt:lpstr>흉내내기와 전략집합: 마지막 기의 전략분포</vt:lpstr>
      <vt:lpstr>돌연변이 추가</vt:lpstr>
      <vt:lpstr>돌연변이 과정</vt:lpstr>
      <vt:lpstr>투자게임: 복합 시뮬레이션 모형</vt:lpstr>
      <vt:lpstr>복합 전략 가정</vt:lpstr>
      <vt:lpstr>위험자산 비중</vt:lpstr>
      <vt:lpstr>Risky Asset Ratio Statistics after 1000 round</vt:lpstr>
      <vt:lpstr>파산 통계</vt:lpstr>
      <vt:lpstr>전략 비율</vt:lpstr>
      <vt:lpstr>CON, FLIPCHARTINFOTS 전략</vt:lpstr>
      <vt:lpstr>최종기 부의 분포</vt:lpstr>
      <vt:lpstr>kernel density plot (dash: normal distribution)</vt:lpstr>
      <vt:lpstr>Two tier? Tail + Body?</vt:lpstr>
      <vt:lpstr>최대 자산 보유 행위자의 부의 비중</vt:lpstr>
      <vt:lpstr>최종기 자산</vt:lpstr>
      <vt:lpstr>흉내내기 기준 변화</vt:lpstr>
      <vt:lpstr>비교기준: 500라운드</vt:lpstr>
      <vt:lpstr>비교기준의 변화(∞→500)에 따른 변동성 변화</vt:lpstr>
      <vt:lpstr>파산 통계</vt:lpstr>
      <vt:lpstr>전략추이</vt:lpstr>
      <vt:lpstr>최종기 부의 분포 (dash: normal distribution)</vt:lpstr>
      <vt:lpstr>결론</vt:lpstr>
      <vt:lpstr>상호의존적 기대하에서의 정보의 역할</vt:lpstr>
      <vt:lpstr>과제</vt:lpstr>
      <vt:lpstr>참고문헌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조남운</cp:lastModifiedBy>
  <cp:revision>2</cp:revision>
  <dcterms:modified xsi:type="dcterms:W3CDTF">2024-06-12T11:09:03Z</dcterms:modified>
</cp:coreProperties>
</file>